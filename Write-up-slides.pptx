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584599f77884c79" /><Relationship Type="http://schemas.openxmlformats.org/officeDocument/2006/relationships/extended-properties" Target="/docProps/app.xml" Id="Rdf70f715598a4b49" /><Relationship Type="http://schemas.openxmlformats.org/officeDocument/2006/relationships/officeDocument" Target="/ppt/presentation.xml" Id="Rcea168eef36f4b1a" /></Relationships>
</file>

<file path=ppt/presentation.xml><?xml version="1.0" encoding="utf-8"?>
<p:presentation xmlns:p="http://schemas.openxmlformats.org/presentationml/2006/main">
  <p:sldMasterIdLst>
    <p:sldMasterId xmlns:r="http://schemas.openxmlformats.org/officeDocument/2006/relationships" id="2147483648" r:id="Raf1f379c7bba4249"/>
  </p:sldMasterIdLst>
  <p:notesMasterIdLst>
    <p:notesMasterId xmlns:r="http://schemas.openxmlformats.org/officeDocument/2006/relationships" r:id="Redb95550af454dd0"/>
  </p:notesMasterIdLst>
  <p:sldIdLst>
    <p:sldId xmlns:r="http://schemas.openxmlformats.org/officeDocument/2006/relationships" id="256" r:id="R18beab3eeecd4d5d"/>
    <p:sldId xmlns:r="http://schemas.openxmlformats.org/officeDocument/2006/relationships" id="257" r:id="Rbd7d89cd67994a4d"/>
    <p:sldId xmlns:r="http://schemas.openxmlformats.org/officeDocument/2006/relationships" id="258" r:id="Rad68df2c738940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1d72c14287e4c06" /><Relationship Type="http://schemas.openxmlformats.org/officeDocument/2006/relationships/slideMaster" Target="/ppt/slideMasters/slideMaster1.xml" Id="Raf1f379c7bba4249" /><Relationship Type="http://schemas.openxmlformats.org/officeDocument/2006/relationships/notesMaster" Target="/ppt/notesMasters/notesMaster1.xml" Id="Redb95550af454dd0" /><Relationship Type="http://schemas.openxmlformats.org/officeDocument/2006/relationships/presProps" Target="/ppt/presProps.xml" Id="R2b2ef7e058394d31" /><Relationship Type="http://schemas.openxmlformats.org/officeDocument/2006/relationships/tableStyles" Target="/ppt/tableStyles.xml" Id="R3a0df29b97244cd4" /><Relationship Type="http://schemas.openxmlformats.org/officeDocument/2006/relationships/slide" Target="/ppt/slides/slide1.xml" Id="R18beab3eeecd4d5d" /><Relationship Type="http://schemas.openxmlformats.org/officeDocument/2006/relationships/slide" Target="/ppt/slides/slide2.xml" Id="Rbd7d89cd67994a4d" /><Relationship Type="http://schemas.openxmlformats.org/officeDocument/2006/relationships/slide" Target="/ppt/slides/slide3.xml" Id="Rad68df2c738940a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7ab655769e5439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0ea6a7fa23141fd" /><Relationship Type="http://schemas.openxmlformats.org/officeDocument/2006/relationships/notesMaster" Target="/ppt/notesMasters/notesMaster1.xml" Id="R6903e7d5d1b04cec" /></Relationships>
</file>

<file path=ppt/notesSlides/_rels/notesSlide2.xml.rels>&#65279;<?xml version="1.0" encoding="utf-8"?><Relationships xmlns="http://schemas.openxmlformats.org/package/2006/relationships"><Relationship Type="http://schemas.openxmlformats.org/officeDocument/2006/relationships/slide" Target="/ppt/slides/slide2.xml" Id="R7e320d472ae74bcb" /><Relationship Type="http://schemas.openxmlformats.org/officeDocument/2006/relationships/notesMaster" Target="/ppt/notesMasters/notesMaster1.xml" Id="Rf5957b56a0bc4c47" /></Relationships>
</file>

<file path=ppt/notesSlides/_rels/notesSlide3.xml.rels>&#65279;<?xml version="1.0" encoding="utf-8"?><Relationships xmlns="http://schemas.openxmlformats.org/package/2006/relationships"><Relationship Type="http://schemas.openxmlformats.org/officeDocument/2006/relationships/slide" Target="/ppt/slides/slide3.xml" Id="R81fc2a557c5a4167" /><Relationship Type="http://schemas.openxmlformats.org/officeDocument/2006/relationships/notesMaster" Target="/ppt/notesMasters/notesMaster1.xml" Id="Rab9afcf30ef04459"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investigator is the user. Their job is not to inspect every row equally; it is to direct attention to cases where one more check can change the decision. The prototype covers the full narrow loop from morning prioritisation to recorded decision. I deliberately omitted authentication, enterprise integration and shared workflow because those features would not test the core product idea. The three lane counts shown are the final operational lanes after safety rules. I never call the lanes fraud probabilities because there are no fraud outcomes in the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architecture is deliberately simple. The CSV is validated, then each case becomes a versioned fact sheet. Deterministic code derives the percentile signals, group, lane, evidence list and recommended first action. A single LLM call writes only the human-readable brief. There is no multi-agent layer and no external retrieval because each case is small, structured and already contains the evidence; extra orchestration would add latency, cost and failure modes. The 19-case regression check showed why evidence selection stays outside the model: model-selected required evidence averaged 62 percent and missed at least one required item in 11 cases, while the deterministic engine covered all required items. At scale I would freeze and version reference distributions by care type, precompute briefs in batches, use an approved model endpoint, and monitor data drift, latency and cost.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Human control is explicit at four points. The investigator sees the raw evidence, records a view on each finding, can ask a bounded factual question, and can override the recommendation with a written reason. The system never pays, denies or closes a claim on its own. The likely-false-positive lane also has an audit gate: two targeted cases and fourteen random cases must receive clean recorded decisions before bulk close. Under the prototype assumption that review detects a sampled problem, fourteen clean random reads give a 90 percent upper bound of two hidden problems in the 27-case bulk-close lot. The largest limitation is the lack of outcomes, so the prototype makes no accuracy claim. With more time I would run it beside current practice, collect adjudicated outcomes, measure decision time and audited misses, and test brief quality in a blinded investigator study.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126e1f96a5b4203"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27b6ca52064e4714" /><Relationship Type="http://schemas.openxmlformats.org/officeDocument/2006/relationships/slideLayout" Target="/ppt/slideLayouts/slideLayout1.xml" Id="Re850531baccd46c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850531baccd46c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1f5f682568a4e55" /><Relationship Type="http://schemas.openxmlformats.org/officeDocument/2006/relationships/notesSlide" Target="/ppt/notesSlides/notesSlide1.xml" Id="Ra0f30b28b3ee4bed"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df13be3cb8443a5" /><Relationship Type="http://schemas.openxmlformats.org/officeDocument/2006/relationships/notesSlide" Target="/ppt/notesSlides/notesSlide2.xml" Id="R37ae504e668745e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1f00d4a1bbff4317" /><Relationship Type="http://schemas.openxmlformats.org/officeDocument/2006/relationships/notesSlide" Target="/ppt/notesSlides/notesSlide3.xml" Id="R40cff0dbefca483a"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467C712C-D8C8-491E-80D5-57BC4FFA5469}"/>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F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A499842E-C554-49E0-B11A-2389DCB87B53}"/>
              </a:ext>
            </a:extLst>
          </p:cNvPr>
          <p:cNvSpPr>
            <a:spLocks xmlns:a="http://schemas.openxmlformats.org/drawingml/2006/main" noGrp="1"/>
          </p:cNvSpPr>
          <p:nvPr/>
        </p:nvSpPr>
        <p:spPr>
          <a:xfrm xmlns:a="http://schemas.openxmlformats.org/drawingml/2006/main">
            <a:off x="609600" y="4000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3600" b="1">
                <a:solidFill>
                  <a:srgbClr val="102A43"/>
                </a:solidFill>
                <a:latin typeface="Segoe UI"/>
                <a:ea typeface="Segoe UI"/>
                <a:cs typeface="Segoe UI"/>
              </a:defRPr>
            </a:pPr>
            <a:r>
              <a:rPr sz="3600" b="1">
                <a:solidFill>
                  <a:srgbClr val="102A43"/>
                </a:solidFill>
                <a:latin typeface="Segoe UI"/>
                <a:ea typeface="Segoe UI"/>
                <a:cs typeface="Segoe UI"/>
              </a:rPr>
              <a:t>The product I imagined</a:t>
            </a:r>
          </a:p>
        </p:txBody>
      </p:sp>
      <p:sp>
        <p:nvSpPr>
          <p:cNvPr id="3" name="">
            <a:extLst xmlns:a="http://schemas.openxmlformats.org/drawingml/2006/main">
              <a:ext uri="{FF2B5EF4-FFF2-40B4-BE49-F238E27FC236}">
                <a16:creationId xmlns:a16="http://schemas.microsoft.com/office/drawing/2014/main" id="{CA239C8E-B40F-4362-94F1-91BF889943BE}"/>
              </a:ext>
            </a:extLst>
          </p:cNvPr>
          <p:cNvSpPr>
            <a:spLocks xmlns:a="http://schemas.openxmlformats.org/drawingml/2006/main" noGrp="1"/>
          </p:cNvSpPr>
          <p:nvPr/>
        </p:nvSpPr>
        <p:spPr>
          <a:xfrm xmlns:a="http://schemas.openxmlformats.org/drawingml/2006/main">
            <a:off x="609600" y="99060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0">
                <a:solidFill>
                  <a:srgbClr val="52606D"/>
                </a:solidFill>
                <a:latin typeface="Segoe UI"/>
                <a:ea typeface="Segoe UI"/>
                <a:cs typeface="Segoe UI"/>
              </a:defRPr>
            </a:pPr>
            <a:r>
              <a:rPr sz="1725" b="0">
                <a:solidFill>
                  <a:srgbClr val="52606D"/>
                </a:solidFill>
                <a:latin typeface="Segoe UI"/>
                <a:ea typeface="Segoe UI"/>
                <a:cs typeface="Segoe UI"/>
              </a:rPr>
              <a:t>A pre-triaged morning queue that helps investigators spend attention where one check can change the decision</a:t>
            </a:r>
          </a:p>
        </p:txBody>
      </p:sp>
      <p:sp>
        <p:nvSpPr>
          <p:cNvPr id="4" name="">
            <a:extLst xmlns:a="http://schemas.openxmlformats.org/drawingml/2006/main">
              <a:ext uri="{FF2B5EF4-FFF2-40B4-BE49-F238E27FC236}">
                <a16:creationId xmlns:a16="http://schemas.microsoft.com/office/drawing/2014/main" id="{DA1D7997-2305-44E3-A58D-713D31A1C239}"/>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7147EC2C-F0F6-49FC-BB4D-2887ADB97386}"/>
              </a:ext>
            </a:extLst>
          </p:cNvPr>
          <p:cNvSpPr>
            <a:spLocks xmlns:a="http://schemas.openxmlformats.org/drawingml/2006/main" noGrp="1"/>
          </p:cNvSpPr>
          <p:nvPr/>
        </p:nvSpPr>
        <p:spPr>
          <a:xfrm xmlns:a="http://schemas.openxmlformats.org/drawingml/2006/main">
            <a:off x="11182350" y="643890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lnSpc>
                <a:spcPct val="105000"/>
              </a:lnSpc>
              <a:buNone/>
              <a:defRPr sz="1200" b="1">
                <a:solidFill>
                  <a:srgbClr val="829AB1"/>
                </a:solidFill>
                <a:latin typeface="Segoe UI"/>
                <a:ea typeface="Segoe UI"/>
                <a:cs typeface="Segoe UI"/>
              </a:defRPr>
            </a:pPr>
            <a:r>
              <a:rPr sz="1200" b="1">
                <a:solidFill>
                  <a:srgbClr val="829AB1"/>
                </a:solidFill>
                <a:latin typeface="Segoe UI"/>
                <a:ea typeface="Segoe UI"/>
                <a:cs typeface="Segoe UI"/>
              </a:rPr>
              <a:t>01</a:t>
            </a:r>
          </a:p>
        </p:txBody>
      </p:sp>
      <p:sp>
        <p:nvSpPr>
          <p:cNvPr id="6" name="">
            <a:extLst xmlns:a="http://schemas.openxmlformats.org/drawingml/2006/main">
              <a:ext uri="{FF2B5EF4-FFF2-40B4-BE49-F238E27FC236}">
                <a16:creationId xmlns:a16="http://schemas.microsoft.com/office/drawing/2014/main" id="{ADA5E1E3-0D76-46C1-9E94-1A77318C0462}"/>
              </a:ext>
            </a:extLst>
          </p:cNvPr>
          <p:cNvSpPr>
            <a:spLocks xmlns:a="http://schemas.openxmlformats.org/drawingml/2006/main" noGrp="1"/>
          </p:cNvSpPr>
          <p:nvPr/>
        </p:nvSpPr>
        <p:spPr>
          <a:xfrm xmlns:a="http://schemas.openxmlformats.org/drawingml/2006/main">
            <a:off x="609600" y="16764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USER AND CORE JOB</a:t>
            </a:r>
          </a:p>
        </p:txBody>
      </p:sp>
      <p:sp>
        <p:nvSpPr>
          <p:cNvPr id="7" name="">
            <a:extLst xmlns:a="http://schemas.openxmlformats.org/drawingml/2006/main">
              <a:ext uri="{FF2B5EF4-FFF2-40B4-BE49-F238E27FC236}">
                <a16:creationId xmlns:a16="http://schemas.microsoft.com/office/drawing/2014/main" id="{5E55BD55-A14D-487E-9DCE-8205295920BA}"/>
              </a:ext>
            </a:extLst>
          </p:cNvPr>
          <p:cNvSpPr>
            <a:spLocks xmlns:a="http://schemas.openxmlformats.org/drawingml/2006/main" noGrp="1"/>
          </p:cNvSpPr>
          <p:nvPr/>
        </p:nvSpPr>
        <p:spPr>
          <a:xfrm xmlns:a="http://schemas.openxmlformats.org/drawingml/2006/main">
            <a:off x="609600" y="20002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0000"/>
              </a:lnSpc>
              <a:buNone/>
              <a:defRPr sz="2250" b="1">
                <a:solidFill>
                  <a:srgbClr val="102A43"/>
                </a:solidFill>
                <a:latin typeface="Segoe UI"/>
                <a:ea typeface="Segoe UI"/>
                <a:cs typeface="Segoe UI"/>
              </a:defRPr>
            </a:pPr>
            <a:r>
              <a:rPr sz="2250" b="1">
                <a:solidFill>
                  <a:srgbClr val="102A43"/>
                </a:solidFill>
                <a:latin typeface="Segoe UI"/>
                <a:ea typeface="Segoe UI"/>
                <a:cs typeface="Segoe UI"/>
              </a:rPr>
              <a:t>Fraud investigator starting a morning queue</a:t>
            </a:r>
          </a:p>
        </p:txBody>
      </p:sp>
      <p:sp>
        <p:nvSpPr>
          <p:cNvPr id="8" name="">
            <a:extLst xmlns:a="http://schemas.openxmlformats.org/drawingml/2006/main">
              <a:ext uri="{FF2B5EF4-FFF2-40B4-BE49-F238E27FC236}">
                <a16:creationId xmlns:a16="http://schemas.microsoft.com/office/drawing/2014/main" id="{0BE39EDB-2BCA-4AE8-A949-9BE925C712A4}"/>
              </a:ext>
            </a:extLst>
          </p:cNvPr>
          <p:cNvSpPr>
            <a:spLocks xmlns:a="http://schemas.openxmlformats.org/drawingml/2006/main" noGrp="1"/>
          </p:cNvSpPr>
          <p:nvPr/>
        </p:nvSpPr>
        <p:spPr>
          <a:xfrm xmlns:a="http://schemas.openxmlformats.org/drawingml/2006/main">
            <a:off x="609600" y="2724150"/>
            <a:ext cx="400050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12000"/>
              </a:lnSpc>
              <a:buNone/>
              <a:defRPr sz="1725" b="0">
                <a:solidFill>
                  <a:srgbClr val="52606D"/>
                </a:solidFill>
                <a:latin typeface="Segoe UI"/>
                <a:ea typeface="Segoe UI"/>
                <a:cs typeface="Segoe UI"/>
              </a:defRPr>
            </a:pPr>
            <a:r>
              <a:rPr sz="1725" b="0">
                <a:solidFill>
                  <a:srgbClr val="52606D"/>
                </a:solidFill>
                <a:latin typeface="Segoe UI"/>
                <a:ea typeface="Segoe UI"/>
                <a:cs typeface="Segoe UI"/>
              </a:rPr>
              <a:t>Find the referrals that need real attention, confirm the evidence quickly, and close likely false positives safely.</a:t>
            </a:r>
          </a:p>
        </p:txBody>
      </p:sp>
      <p:sp>
        <p:nvSpPr>
          <p:cNvPr id="9" name="">
            <a:extLst xmlns:a="http://schemas.openxmlformats.org/drawingml/2006/main">
              <a:ext uri="{FF2B5EF4-FFF2-40B4-BE49-F238E27FC236}">
                <a16:creationId xmlns:a16="http://schemas.microsoft.com/office/drawing/2014/main" id="{E5794086-2B4C-484A-AB88-80527BA77A6A}"/>
              </a:ext>
            </a:extLst>
          </p:cNvPr>
          <p:cNvSpPr>
            <a:spLocks xmlns:a="http://schemas.openxmlformats.org/drawingml/2006/main" noGrp="1"/>
          </p:cNvSpPr>
          <p:nvPr/>
        </p:nvSpPr>
        <p:spPr>
          <a:xfrm xmlns:a="http://schemas.openxmlformats.org/drawingml/2006/main">
            <a:off x="609600" y="3800475"/>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0F766E"/>
                </a:solidFill>
                <a:latin typeface="Segoe UI"/>
                <a:ea typeface="Segoe UI"/>
                <a:cs typeface="Segoe UI"/>
              </a:defRPr>
            </a:pPr>
            <a:r>
              <a:rPr sz="1725" b="1">
                <a:solidFill>
                  <a:srgbClr val="0F766E"/>
                </a:solidFill>
                <a:latin typeface="Segoe UI"/>
                <a:ea typeface="Segoe UI"/>
                <a:cs typeface="Segoe UI"/>
              </a:rPr>
              <a:t>The system prepares the case. The investigator still owns the decision.</a:t>
            </a:r>
          </a:p>
        </p:txBody>
      </p:sp>
      <p:sp>
        <p:nvSpPr>
          <p:cNvPr id="10" name="">
            <a:extLst xmlns:a="http://schemas.openxmlformats.org/drawingml/2006/main">
              <a:ext uri="{FF2B5EF4-FFF2-40B4-BE49-F238E27FC236}">
                <a16:creationId xmlns:a16="http://schemas.microsoft.com/office/drawing/2014/main" id="{F0241324-49EB-4974-BC06-727485F1A3ED}"/>
              </a:ext>
            </a:extLst>
          </p:cNvPr>
          <p:cNvSpPr>
            <a:spLocks xmlns:a="http://schemas.openxmlformats.org/drawingml/2006/main" noGrp="1"/>
          </p:cNvSpPr>
          <p:nvPr/>
        </p:nvSpPr>
        <p:spPr>
          <a:xfrm xmlns:a="http://schemas.openxmlformats.org/drawingml/2006/main">
            <a:off x="4953000" y="1676400"/>
            <a:ext cx="9525"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11" name="">
            <a:extLst xmlns:a="http://schemas.openxmlformats.org/drawingml/2006/main">
              <a:ext uri="{FF2B5EF4-FFF2-40B4-BE49-F238E27FC236}">
                <a16:creationId xmlns:a16="http://schemas.microsoft.com/office/drawing/2014/main" id="{BC23F744-6FEB-453B-B4E7-99116EBB31EA}"/>
              </a:ext>
            </a:extLst>
          </p:cNvPr>
          <p:cNvSpPr>
            <a:spLocks xmlns:a="http://schemas.openxmlformats.org/drawingml/2006/main" noGrp="1"/>
          </p:cNvSpPr>
          <p:nvPr/>
        </p:nvSpPr>
        <p:spPr>
          <a:xfrm xmlns:a="http://schemas.openxmlformats.org/drawingml/2006/main">
            <a:off x="5372100" y="1676400"/>
            <a:ext cx="2762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WHAT I BUILT</a:t>
            </a:r>
          </a:p>
        </p:txBody>
      </p:sp>
      <p:sp>
        <p:nvSpPr>
          <p:cNvPr id="12" name="">
            <a:extLst xmlns:a="http://schemas.openxmlformats.org/drawingml/2006/main">
              <a:ext uri="{FF2B5EF4-FFF2-40B4-BE49-F238E27FC236}">
                <a16:creationId xmlns:a16="http://schemas.microsoft.com/office/drawing/2014/main" id="{3DCE7D51-DC7E-4A34-9B2F-7F1BBBF0A1C8}"/>
              </a:ext>
            </a:extLst>
          </p:cNvPr>
          <p:cNvSpPr>
            <a:spLocks xmlns:a="http://schemas.openxmlformats.org/drawingml/2006/main" noGrp="1"/>
          </p:cNvSpPr>
          <p:nvPr/>
        </p:nvSpPr>
        <p:spPr>
          <a:xfrm xmlns:a="http://schemas.openxmlformats.org/drawingml/2006/main">
            <a:off x="5372100" y="2038350"/>
            <a:ext cx="2857500" cy="1952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Three triage lanes</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Checked case brief and evidence</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Recommended first action</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Case Q&amp;A, review, notes, decision log</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Audit gate before bulk close</a:t>
            </a:r>
          </a:p>
        </p:txBody>
      </p:sp>
      <p:sp>
        <p:nvSpPr>
          <p:cNvPr id="13" name="">
            <a:extLst xmlns:a="http://schemas.openxmlformats.org/drawingml/2006/main">
              <a:ext uri="{FF2B5EF4-FFF2-40B4-BE49-F238E27FC236}">
                <a16:creationId xmlns:a16="http://schemas.microsoft.com/office/drawing/2014/main" id="{A55AA383-8D85-45BC-A7F7-3F055C669262}"/>
              </a:ext>
            </a:extLst>
          </p:cNvPr>
          <p:cNvSpPr>
            <a:spLocks xmlns:a="http://schemas.openxmlformats.org/drawingml/2006/main" noGrp="1"/>
          </p:cNvSpPr>
          <p:nvPr/>
        </p:nvSpPr>
        <p:spPr>
          <a:xfrm xmlns:a="http://schemas.openxmlformats.org/drawingml/2006/main">
            <a:off x="8648700" y="167640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WHAT I LEFT OUT</a:t>
            </a:r>
          </a:p>
        </p:txBody>
      </p:sp>
      <p:sp>
        <p:nvSpPr>
          <p:cNvPr id="14" name="">
            <a:extLst xmlns:a="http://schemas.openxmlformats.org/drawingml/2006/main">
              <a:ext uri="{FF2B5EF4-FFF2-40B4-BE49-F238E27FC236}">
                <a16:creationId xmlns:a16="http://schemas.microsoft.com/office/drawing/2014/main" id="{B3C33EF1-A4D4-40A5-A470-3AB6E3399D7C}"/>
              </a:ext>
            </a:extLst>
          </p:cNvPr>
          <p:cNvSpPr>
            <a:spLocks xmlns:a="http://schemas.openxmlformats.org/drawingml/2006/main" noGrp="1"/>
          </p:cNvSpPr>
          <p:nvPr/>
        </p:nvSpPr>
        <p:spPr>
          <a:xfrm xmlns:a="http://schemas.openxmlformats.org/drawingml/2006/main">
            <a:off x="8648700" y="2038350"/>
            <a:ext cx="2857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Authentication and roles</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Multi-user workflow</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Production database</a:t>
            </a:r>
          </a:p>
          <a:p xmlns:a="http://schemas.openxmlformats.org/drawingml/2006/main">
            <a:pPr algn="l">
              <a:lnSpc>
                <a:spcPct val="128000"/>
              </a:lnSpc>
              <a:buNone/>
              <a:defRPr sz="1575" b="0">
                <a:solidFill>
                  <a:srgbClr val="102A43"/>
                </a:solidFill>
                <a:latin typeface="Segoe UI"/>
                <a:ea typeface="Segoe UI"/>
                <a:cs typeface="Segoe UI"/>
              </a:defRPr>
            </a:pPr>
            <a:r>
              <a:rPr sz="1575" b="0">
                <a:solidFill>
                  <a:srgbClr val="102A43"/>
                </a:solidFill>
                <a:latin typeface="Segoe UI"/>
                <a:ea typeface="Segoe UI"/>
                <a:cs typeface="Segoe UI"/>
              </a:rPr>
              <a:t>Claims-system integration</a:t>
            </a:r>
          </a:p>
        </p:txBody>
      </p:sp>
      <p:sp>
        <p:nvSpPr>
          <p:cNvPr id="15" name="">
            <a:extLst xmlns:a="http://schemas.openxmlformats.org/drawingml/2006/main">
              <a:ext uri="{FF2B5EF4-FFF2-40B4-BE49-F238E27FC236}">
                <a16:creationId xmlns:a16="http://schemas.microsoft.com/office/drawing/2014/main" id="{98A29DE2-CFFA-438E-8FFF-A08FEC9C8BEB}"/>
              </a:ext>
            </a:extLst>
          </p:cNvPr>
          <p:cNvSpPr>
            <a:spLocks xmlns:a="http://schemas.openxmlformats.org/drawingml/2006/main" noGrp="1"/>
          </p:cNvSpPr>
          <p:nvPr/>
        </p:nvSpPr>
        <p:spPr>
          <a:xfrm xmlns:a="http://schemas.openxmlformats.org/drawingml/2006/main">
            <a:off x="8648700" y="3562350"/>
            <a:ext cx="28575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10000"/>
              </a:lnSpc>
              <a:buNone/>
              <a:defRPr sz="1500" b="0">
                <a:solidFill>
                  <a:srgbClr val="52606D"/>
                </a:solidFill>
                <a:latin typeface="Segoe UI"/>
                <a:ea typeface="Segoe UI"/>
                <a:cs typeface="Segoe UI"/>
              </a:defRPr>
            </a:pPr>
            <a:r>
              <a:rPr sz="1500" b="0">
                <a:solidFill>
                  <a:srgbClr val="52606D"/>
                </a:solidFill>
                <a:latin typeface="Segoe UI"/>
                <a:ea typeface="Segoe UI"/>
                <a:cs typeface="Segoe UI"/>
              </a:rPr>
              <a:t>These do not change the core AI experience for 50 synthetic claims, so I used the time on triage, evidence, and human control.</a:t>
            </a:r>
          </a:p>
        </p:txBody>
      </p:sp>
      <p:sp>
        <p:nvSpPr>
          <p:cNvPr id="16" name="">
            <a:extLst xmlns:a="http://schemas.openxmlformats.org/drawingml/2006/main">
              <a:ext uri="{FF2B5EF4-FFF2-40B4-BE49-F238E27FC236}">
                <a16:creationId xmlns:a16="http://schemas.microsoft.com/office/drawing/2014/main" id="{690B9AC0-B059-4845-BDEB-E2B3685B1EE7}"/>
              </a:ext>
            </a:extLst>
          </p:cNvPr>
          <p:cNvSpPr>
            <a:spLocks xmlns:a="http://schemas.openxmlformats.org/drawingml/2006/main" noGrp="1"/>
          </p:cNvSpPr>
          <p:nvPr/>
        </p:nvSpPr>
        <p:spPr>
          <a:xfrm xmlns:a="http://schemas.openxmlformats.org/drawingml/2006/main">
            <a:off x="609600" y="4591050"/>
            <a:ext cx="2857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THE MORNING QUEUE</a:t>
            </a:r>
          </a:p>
        </p:txBody>
      </p:sp>
      <p:sp>
        <p:nvSpPr>
          <p:cNvPr id="17" name="">
            <a:extLst xmlns:a="http://schemas.openxmlformats.org/drawingml/2006/main">
              <a:ext uri="{FF2B5EF4-FFF2-40B4-BE49-F238E27FC236}">
                <a16:creationId xmlns:a16="http://schemas.microsoft.com/office/drawing/2014/main" id="{37DE5535-18E7-454B-9CC3-30D0BF168CED}"/>
              </a:ext>
            </a:extLst>
          </p:cNvPr>
          <p:cNvSpPr>
            <a:spLocks xmlns:a="http://schemas.openxmlformats.org/drawingml/2006/main" noGrp="1"/>
          </p:cNvSpPr>
          <p:nvPr/>
        </p:nvSpPr>
        <p:spPr>
          <a:xfrm xmlns:a="http://schemas.openxmlformats.org/drawingml/2006/main">
            <a:off x="609600" y="4953000"/>
            <a:ext cx="1755648" cy="171450"/>
          </a:xfrm>
          <a:prstGeom xmlns:a="http://schemas.openxmlformats.org/drawingml/2006/main" prst="rect">
            <a:avLst/>
          </a:prstGeom>
          <a:solidFill xmlns:a="http://schemas.openxmlformats.org/drawingml/2006/main">
            <a:srgbClr val="B42318"/>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3D312A1B-51F1-4ABD-867A-31F0673A629E}"/>
              </a:ext>
            </a:extLst>
          </p:cNvPr>
          <p:cNvSpPr>
            <a:spLocks xmlns:a="http://schemas.openxmlformats.org/drawingml/2006/main" noGrp="1"/>
          </p:cNvSpPr>
          <p:nvPr/>
        </p:nvSpPr>
        <p:spPr>
          <a:xfrm xmlns:a="http://schemas.openxmlformats.org/drawingml/2006/main">
            <a:off x="2365248" y="4953000"/>
            <a:ext cx="2852928" cy="171450"/>
          </a:xfrm>
          <a:prstGeom xmlns:a="http://schemas.openxmlformats.org/drawingml/2006/main" prst="rect">
            <a:avLst/>
          </a:prstGeom>
          <a:solidFill xmlns:a="http://schemas.openxmlformats.org/drawingml/2006/main">
            <a:srgbClr val="B45309"/>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F3CF9C98-D476-4C17-9780-AFAAEB652419}"/>
              </a:ext>
            </a:extLst>
          </p:cNvPr>
          <p:cNvSpPr>
            <a:spLocks xmlns:a="http://schemas.openxmlformats.org/drawingml/2006/main" noGrp="1"/>
          </p:cNvSpPr>
          <p:nvPr/>
        </p:nvSpPr>
        <p:spPr>
          <a:xfrm xmlns:a="http://schemas.openxmlformats.org/drawingml/2006/main">
            <a:off x="5218176" y="4953000"/>
            <a:ext cx="6364224" cy="171450"/>
          </a:xfrm>
          <a:prstGeom xmlns:a="http://schemas.openxmlformats.org/drawingml/2006/main" prst="rect">
            <a:avLst/>
          </a:prstGeom>
          <a:solidFill xmlns:a="http://schemas.openxmlformats.org/drawingml/2006/main">
            <a:srgbClr val="0F766E"/>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4DF3DB6-B39A-4452-87A1-C020240ECFA9}"/>
              </a:ext>
            </a:extLst>
          </p:cNvPr>
          <p:cNvSpPr>
            <a:spLocks xmlns:a="http://schemas.openxmlformats.org/drawingml/2006/main" noGrp="1"/>
          </p:cNvSpPr>
          <p:nvPr/>
        </p:nvSpPr>
        <p:spPr>
          <a:xfrm xmlns:a="http://schemas.openxmlformats.org/drawingml/2006/main">
            <a:off x="609600" y="52482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00" b="1">
                <a:solidFill>
                  <a:srgbClr val="B42318"/>
                </a:solidFill>
                <a:latin typeface="Segoe UI"/>
                <a:ea typeface="Segoe UI"/>
                <a:cs typeface="Segoe UI"/>
              </a:defRPr>
            </a:pPr>
            <a:r>
              <a:rPr sz="1500" b="1">
                <a:solidFill>
                  <a:srgbClr val="B42318"/>
                </a:solidFill>
                <a:latin typeface="Segoe UI"/>
                <a:ea typeface="Segoe UI"/>
                <a:cs typeface="Segoe UI"/>
              </a:rPr>
              <a:t>8  Priority investigation</a:t>
            </a:r>
          </a:p>
        </p:txBody>
      </p:sp>
      <p:sp>
        <p:nvSpPr>
          <p:cNvPr id="21" name="">
            <a:extLst xmlns:a="http://schemas.openxmlformats.org/drawingml/2006/main">
              <a:ext uri="{FF2B5EF4-FFF2-40B4-BE49-F238E27FC236}">
                <a16:creationId xmlns:a16="http://schemas.microsoft.com/office/drawing/2014/main" id="{1C1F8472-EAED-4A56-AA32-49D33D3A3170}"/>
              </a:ext>
            </a:extLst>
          </p:cNvPr>
          <p:cNvSpPr>
            <a:spLocks xmlns:a="http://schemas.openxmlformats.org/drawingml/2006/main" noGrp="1"/>
          </p:cNvSpPr>
          <p:nvPr/>
        </p:nvSpPr>
        <p:spPr>
          <a:xfrm xmlns:a="http://schemas.openxmlformats.org/drawingml/2006/main">
            <a:off x="3762375" y="5248275"/>
            <a:ext cx="2476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00" b="1">
                <a:solidFill>
                  <a:srgbClr val="B45309"/>
                </a:solidFill>
                <a:latin typeface="Segoe UI"/>
                <a:ea typeface="Segoe UI"/>
                <a:cs typeface="Segoe UI"/>
              </a:defRPr>
            </a:pPr>
            <a:r>
              <a:rPr sz="1500" b="1">
                <a:solidFill>
                  <a:srgbClr val="B45309"/>
                </a:solidFill>
                <a:latin typeface="Segoe UI"/>
                <a:ea typeface="Segoe UI"/>
                <a:cs typeface="Segoe UI"/>
              </a:rPr>
              <a:t>13  Needs judgment</a:t>
            </a:r>
          </a:p>
        </p:txBody>
      </p:sp>
      <p:sp>
        <p:nvSpPr>
          <p:cNvPr id="22" name="">
            <a:extLst xmlns:a="http://schemas.openxmlformats.org/drawingml/2006/main">
              <a:ext uri="{FF2B5EF4-FFF2-40B4-BE49-F238E27FC236}">
                <a16:creationId xmlns:a16="http://schemas.microsoft.com/office/drawing/2014/main" id="{56A9D59B-95E3-4B07-86D4-9B1A370B0466}"/>
              </a:ext>
            </a:extLst>
          </p:cNvPr>
          <p:cNvSpPr>
            <a:spLocks xmlns:a="http://schemas.openxmlformats.org/drawingml/2006/main" noGrp="1"/>
          </p:cNvSpPr>
          <p:nvPr/>
        </p:nvSpPr>
        <p:spPr>
          <a:xfrm xmlns:a="http://schemas.openxmlformats.org/drawingml/2006/main">
            <a:off x="7410450" y="5248275"/>
            <a:ext cx="3429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00" b="1">
                <a:solidFill>
                  <a:srgbClr val="0F766E"/>
                </a:solidFill>
                <a:latin typeface="Segoe UI"/>
                <a:ea typeface="Segoe UI"/>
                <a:cs typeface="Segoe UI"/>
              </a:defRPr>
            </a:pPr>
            <a:r>
              <a:rPr sz="1500" b="1">
                <a:solidFill>
                  <a:srgbClr val="0F766E"/>
                </a:solidFill>
                <a:latin typeface="Segoe UI"/>
                <a:ea typeface="Segoe UI"/>
                <a:cs typeface="Segoe UI"/>
              </a:rPr>
              <a:t>29  Likely false positive</a:t>
            </a:r>
          </a:p>
        </p:txBody>
      </p:sp>
      <p:sp>
        <p:nvSpPr>
          <p:cNvPr id="23" name="">
            <a:extLst xmlns:a="http://schemas.openxmlformats.org/drawingml/2006/main">
              <a:ext uri="{FF2B5EF4-FFF2-40B4-BE49-F238E27FC236}">
                <a16:creationId xmlns:a16="http://schemas.microsoft.com/office/drawing/2014/main" id="{9EBBD827-D8C1-4085-BDE5-897D6561D680}"/>
              </a:ext>
            </a:extLst>
          </p:cNvPr>
          <p:cNvSpPr>
            <a:spLocks xmlns:a="http://schemas.openxmlformats.org/drawingml/2006/main" noGrp="1"/>
          </p:cNvSpPr>
          <p:nvPr/>
        </p:nvSpPr>
        <p:spPr>
          <a:xfrm xmlns:a="http://schemas.openxmlformats.org/drawingml/2006/main">
            <a:off x="609600" y="5829300"/>
            <a:ext cx="10972800" cy="428625"/>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7368CD4C-E718-4838-8383-547BD21AD3A6}"/>
              </a:ext>
            </a:extLst>
          </p:cNvPr>
          <p:cNvSpPr>
            <a:spLocks xmlns:a="http://schemas.openxmlformats.org/drawingml/2006/main" noGrp="1"/>
          </p:cNvSpPr>
          <p:nvPr/>
        </p:nvSpPr>
        <p:spPr>
          <a:xfrm xmlns:a="http://schemas.openxmlformats.org/drawingml/2006/main">
            <a:off x="800100" y="5924550"/>
            <a:ext cx="105727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75" b="1">
                <a:solidFill>
                  <a:srgbClr val="102A43"/>
                </a:solidFill>
                <a:latin typeface="Segoe UI"/>
                <a:ea typeface="Segoe UI"/>
                <a:cs typeface="Segoe UI"/>
              </a:defRPr>
            </a:pPr>
            <a:r>
              <a:rPr sz="1575" b="1">
                <a:solidFill>
                  <a:srgbClr val="102A43"/>
                </a:solidFill>
                <a:latin typeface="Segoe UI"/>
                <a:ea typeface="Segoe UI"/>
                <a:cs typeface="Segoe UI"/>
              </a:rPr>
              <a:t>No fraud probability is shown because the file has no outcome labels.</a:t>
            </a:r>
          </a:p>
        </p:txBody>
      </p:sp>
    </p:spTree>
    <p:extLst>
      <p:ext uri="{BB962C8B-B14F-4D97-AF65-F5344CB8AC3E}">
        <p14:creationId xmlns:p14="http://schemas.microsoft.com/office/powerpoint/2010/main" val="35834854"/>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6335CF4A-03DD-4D76-88F8-39A1F7B0453A}"/>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F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1CD1E5C-3CAE-443F-B01C-CD77C20912A9}"/>
              </a:ext>
            </a:extLst>
          </p:cNvPr>
          <p:cNvSpPr>
            <a:spLocks xmlns:a="http://schemas.openxmlformats.org/drawingml/2006/main" noGrp="1"/>
          </p:cNvSpPr>
          <p:nvPr/>
        </p:nvSpPr>
        <p:spPr>
          <a:xfrm xmlns:a="http://schemas.openxmlformats.org/drawingml/2006/main">
            <a:off x="609600" y="4000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3600" b="1">
                <a:solidFill>
                  <a:srgbClr val="102A43"/>
                </a:solidFill>
                <a:latin typeface="Segoe UI"/>
                <a:ea typeface="Segoe UI"/>
                <a:cs typeface="Segoe UI"/>
              </a:defRPr>
            </a:pPr>
            <a:r>
              <a:rPr sz="3600" b="1">
                <a:solidFill>
                  <a:srgbClr val="102A43"/>
                </a:solidFill>
                <a:latin typeface="Segoe UI"/>
                <a:ea typeface="Segoe UI"/>
                <a:cs typeface="Segoe UI"/>
              </a:rPr>
              <a:t>Architecture</a:t>
            </a:r>
          </a:p>
        </p:txBody>
      </p:sp>
      <p:sp>
        <p:nvSpPr>
          <p:cNvPr id="3" name="">
            <a:extLst xmlns:a="http://schemas.openxmlformats.org/drawingml/2006/main">
              <a:ext uri="{FF2B5EF4-FFF2-40B4-BE49-F238E27FC236}">
                <a16:creationId xmlns:a16="http://schemas.microsoft.com/office/drawing/2014/main" id="{3D1D15B7-52D4-4729-ABF6-4E97891481C7}"/>
              </a:ext>
            </a:extLst>
          </p:cNvPr>
          <p:cNvSpPr>
            <a:spLocks xmlns:a="http://schemas.openxmlformats.org/drawingml/2006/main" noGrp="1"/>
          </p:cNvSpPr>
          <p:nvPr/>
        </p:nvSpPr>
        <p:spPr>
          <a:xfrm xmlns:a="http://schemas.openxmlformats.org/drawingml/2006/main">
            <a:off x="609600" y="99060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0">
                <a:solidFill>
                  <a:srgbClr val="52606D"/>
                </a:solidFill>
                <a:latin typeface="Segoe UI"/>
                <a:ea typeface="Segoe UI"/>
                <a:cs typeface="Segoe UI"/>
              </a:defRPr>
            </a:pPr>
            <a:r>
              <a:rPr sz="1725" b="0">
                <a:solidFill>
                  <a:srgbClr val="52606D"/>
                </a:solidFill>
                <a:latin typeface="Segoe UI"/>
                <a:ea typeface="Segoe UI"/>
                <a:cs typeface="Segoe UI"/>
              </a:rPr>
              <a:t>Deterministic code decides the lane, evidence, and first action; the LLM turns those facts into a readable brief</a:t>
            </a:r>
          </a:p>
        </p:txBody>
      </p:sp>
      <p:sp>
        <p:nvSpPr>
          <p:cNvPr id="4" name="">
            <a:extLst xmlns:a="http://schemas.openxmlformats.org/drawingml/2006/main">
              <a:ext uri="{FF2B5EF4-FFF2-40B4-BE49-F238E27FC236}">
                <a16:creationId xmlns:a16="http://schemas.microsoft.com/office/drawing/2014/main" id="{FC181683-EE24-4A01-9E97-7C655ED7D2C3}"/>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6B60E99D-EF55-4E5D-B5F9-66C3BD5C84DE}"/>
              </a:ext>
            </a:extLst>
          </p:cNvPr>
          <p:cNvSpPr>
            <a:spLocks xmlns:a="http://schemas.openxmlformats.org/drawingml/2006/main" noGrp="1"/>
          </p:cNvSpPr>
          <p:nvPr/>
        </p:nvSpPr>
        <p:spPr>
          <a:xfrm xmlns:a="http://schemas.openxmlformats.org/drawingml/2006/main">
            <a:off x="11182350" y="643890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lnSpc>
                <a:spcPct val="105000"/>
              </a:lnSpc>
              <a:buNone/>
              <a:defRPr sz="1200" b="1">
                <a:solidFill>
                  <a:srgbClr val="829AB1"/>
                </a:solidFill>
                <a:latin typeface="Segoe UI"/>
                <a:ea typeface="Segoe UI"/>
                <a:cs typeface="Segoe UI"/>
              </a:defRPr>
            </a:pPr>
            <a:r>
              <a:rPr sz="1200" b="1">
                <a:solidFill>
                  <a:srgbClr val="829AB1"/>
                </a:solidFill>
                <a:latin typeface="Segoe UI"/>
                <a:ea typeface="Segoe UI"/>
                <a:cs typeface="Segoe UI"/>
              </a:rPr>
              <a:t>02</a:t>
            </a:r>
          </a:p>
        </p:txBody>
      </p:sp>
      <p:sp>
        <p:nvSpPr>
          <p:cNvPr id="6" name="">
            <a:extLst xmlns:a="http://schemas.openxmlformats.org/drawingml/2006/main">
              <a:ext uri="{FF2B5EF4-FFF2-40B4-BE49-F238E27FC236}">
                <a16:creationId xmlns:a16="http://schemas.microsoft.com/office/drawing/2014/main" id="{E7D6AC6E-BA9A-4EE6-A6BE-19CAA72BFEB1}"/>
              </a:ext>
            </a:extLst>
          </p:cNvPr>
          <p:cNvSpPr>
            <a:spLocks xmlns:a="http://schemas.openxmlformats.org/drawingml/2006/main" noGrp="1"/>
          </p:cNvSpPr>
          <p:nvPr/>
        </p:nvSpPr>
        <p:spPr>
          <a:xfrm xmlns:a="http://schemas.openxmlformats.org/drawingml/2006/main">
            <a:off x="609600" y="1695450"/>
            <a:ext cx="2000250" cy="1200150"/>
          </a:xfrm>
          <a:prstGeom xmlns:a="http://schemas.openxmlformats.org/drawingml/2006/main" prst="roundRect">
            <a:avLst>
              <a:gd name="adj" fmla="val 6349"/>
            </a:avLst>
          </a:prstGeom>
          <a:solidFill xmlns:a="http://schemas.openxmlformats.org/drawingml/2006/main">
            <a:srgbClr val="F5F8FA"/>
          </a:solidFill>
          <a:ln xmlns:a="http://schemas.openxmlformats.org/drawingml/2006/main" w="9525">
            <a:solidFill>
              <a:srgbClr val="D9E2EC"/>
            </a:solidFill>
            <a:prstDash val="solid"/>
          </a:ln>
        </p:spPr>
      </p:sp>
      <p:sp>
        <p:nvSpPr>
          <p:cNvPr id="7" name="">
            <a:extLst xmlns:a="http://schemas.openxmlformats.org/drawingml/2006/main">
              <a:ext uri="{FF2B5EF4-FFF2-40B4-BE49-F238E27FC236}">
                <a16:creationId xmlns:a16="http://schemas.microsoft.com/office/drawing/2014/main" id="{19CEED93-7085-4674-9746-947470D07B3A}"/>
              </a:ext>
            </a:extLst>
          </p:cNvPr>
          <p:cNvSpPr>
            <a:spLocks xmlns:a="http://schemas.openxmlformats.org/drawingml/2006/main" noGrp="1"/>
          </p:cNvSpPr>
          <p:nvPr/>
        </p:nvSpPr>
        <p:spPr>
          <a:xfrm xmlns:a="http://schemas.openxmlformats.org/drawingml/2006/main">
            <a:off x="762000" y="1828800"/>
            <a:ext cx="400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00" b="1">
                <a:solidFill>
                  <a:srgbClr val="0F766E"/>
                </a:solidFill>
                <a:latin typeface="Segoe UI"/>
                <a:ea typeface="Segoe UI"/>
                <a:cs typeface="Segoe UI"/>
              </a:defRPr>
            </a:pPr>
            <a:r>
              <a:rPr sz="1200" b="1">
                <a:solidFill>
                  <a:srgbClr val="0F766E"/>
                </a:solidFill>
                <a:latin typeface="Segoe UI"/>
                <a:ea typeface="Segoe UI"/>
                <a:cs typeface="Segoe UI"/>
              </a:rPr>
              <a:t>01</a:t>
            </a:r>
          </a:p>
        </p:txBody>
      </p:sp>
      <p:sp>
        <p:nvSpPr>
          <p:cNvPr id="8" name="">
            <a:extLst xmlns:a="http://schemas.openxmlformats.org/drawingml/2006/main">
              <a:ext uri="{FF2B5EF4-FFF2-40B4-BE49-F238E27FC236}">
                <a16:creationId xmlns:a16="http://schemas.microsoft.com/office/drawing/2014/main" id="{ED69C036-5696-4BF9-BC69-E72F9ECC58B4}"/>
              </a:ext>
            </a:extLst>
          </p:cNvPr>
          <p:cNvSpPr>
            <a:spLocks xmlns:a="http://schemas.openxmlformats.org/drawingml/2006/main" noGrp="1"/>
          </p:cNvSpPr>
          <p:nvPr/>
        </p:nvSpPr>
        <p:spPr>
          <a:xfrm xmlns:a="http://schemas.openxmlformats.org/drawingml/2006/main">
            <a:off x="762000" y="206692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800" b="1">
                <a:solidFill>
                  <a:srgbClr val="102A43"/>
                </a:solidFill>
                <a:latin typeface="Segoe UI"/>
                <a:ea typeface="Segoe UI"/>
                <a:cs typeface="Segoe UI"/>
              </a:defRPr>
            </a:pPr>
            <a:r>
              <a:rPr sz="1800" b="1">
                <a:solidFill>
                  <a:srgbClr val="102A43"/>
                </a:solidFill>
                <a:latin typeface="Segoe UI"/>
                <a:ea typeface="Segoe UI"/>
                <a:cs typeface="Segoe UI"/>
              </a:rPr>
              <a:t>Validate</a:t>
            </a:r>
          </a:p>
        </p:txBody>
      </p:sp>
      <p:sp>
        <p:nvSpPr>
          <p:cNvPr id="9" name="">
            <a:extLst xmlns:a="http://schemas.openxmlformats.org/drawingml/2006/main">
              <a:ext uri="{FF2B5EF4-FFF2-40B4-BE49-F238E27FC236}">
                <a16:creationId xmlns:a16="http://schemas.microsoft.com/office/drawing/2014/main" id="{D484B15D-75C0-45E7-B3D6-6B7B9F184172}"/>
              </a:ext>
            </a:extLst>
          </p:cNvPr>
          <p:cNvSpPr>
            <a:spLocks xmlns:a="http://schemas.openxmlformats.org/drawingml/2006/main" noGrp="1"/>
          </p:cNvSpPr>
          <p:nvPr/>
        </p:nvSpPr>
        <p:spPr>
          <a:xfrm xmlns:a="http://schemas.openxmlformats.org/drawingml/2006/main">
            <a:off x="762000" y="2390775"/>
            <a:ext cx="1695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2000"/>
              </a:lnSpc>
              <a:buNone/>
              <a:defRPr sz="1275" b="0">
                <a:solidFill>
                  <a:srgbClr val="52606D"/>
                </a:solidFill>
                <a:latin typeface="Segoe UI"/>
                <a:ea typeface="Segoe UI"/>
                <a:cs typeface="Segoe UI"/>
              </a:defRPr>
            </a:pPr>
            <a:r>
              <a:rPr sz="1275" b="0">
                <a:solidFill>
                  <a:srgbClr val="52606D"/>
                </a:solidFill>
                <a:latin typeface="Segoe UI"/>
                <a:ea typeface="Segoe UI"/>
                <a:cs typeface="Segoe UI"/>
              </a:rPr>
              <a:t>Schema, types, and missing IDs</a:t>
            </a:r>
          </a:p>
        </p:txBody>
      </p:sp>
      <p:sp>
        <p:nvSpPr>
          <p:cNvPr id="10" name="">
            <a:extLst xmlns:a="http://schemas.openxmlformats.org/drawingml/2006/main">
              <a:ext uri="{FF2B5EF4-FFF2-40B4-BE49-F238E27FC236}">
                <a16:creationId xmlns:a16="http://schemas.microsoft.com/office/drawing/2014/main" id="{F0A63685-A6DF-49A0-A3DA-1DE053764FBD}"/>
              </a:ext>
            </a:extLst>
          </p:cNvPr>
          <p:cNvSpPr>
            <a:spLocks xmlns:a="http://schemas.openxmlformats.org/drawingml/2006/main" noGrp="1"/>
          </p:cNvSpPr>
          <p:nvPr/>
        </p:nvSpPr>
        <p:spPr>
          <a:xfrm xmlns:a="http://schemas.openxmlformats.org/drawingml/2006/main">
            <a:off x="2609850" y="2295525"/>
            <a:ext cx="200025" cy="9525"/>
          </a:xfrm>
          <a:prstGeom xmlns:a="http://schemas.openxmlformats.org/drawingml/2006/main" prst="line">
            <a:avLst/>
          </a:prstGeom>
          <a:noFill xmlns:a="http://schemas.openxmlformats.org/drawingml/2006/main"/>
          <a:ln xmlns:a="http://schemas.openxmlformats.org/drawingml/2006/main" w="19050">
            <a:solidFill>
              <a:srgbClr val="829AB1"/>
            </a:solidFill>
            <a:prstDash val="solid"/>
          </a:ln>
        </p:spPr>
      </p:sp>
      <p:sp>
        <p:nvSpPr>
          <p:cNvPr id="11" name="">
            <a:extLst xmlns:a="http://schemas.openxmlformats.org/drawingml/2006/main">
              <a:ext uri="{FF2B5EF4-FFF2-40B4-BE49-F238E27FC236}">
                <a16:creationId xmlns:a16="http://schemas.microsoft.com/office/drawing/2014/main" id="{F521A13B-9782-4A81-A04F-EB7DF809B4A4}"/>
              </a:ext>
            </a:extLst>
          </p:cNvPr>
          <p:cNvSpPr>
            <a:spLocks xmlns:a="http://schemas.openxmlformats.org/drawingml/2006/main" noGrp="1"/>
          </p:cNvSpPr>
          <p:nvPr/>
        </p:nvSpPr>
        <p:spPr>
          <a:xfrm xmlns:a="http://schemas.openxmlformats.org/drawingml/2006/main">
            <a:off x="2809875" y="1695450"/>
            <a:ext cx="2000250" cy="1200150"/>
          </a:xfrm>
          <a:prstGeom xmlns:a="http://schemas.openxmlformats.org/drawingml/2006/main" prst="roundRect">
            <a:avLst>
              <a:gd name="adj" fmla="val 6349"/>
            </a:avLst>
          </a:prstGeom>
          <a:solidFill xmlns:a="http://schemas.openxmlformats.org/drawingml/2006/main">
            <a:srgbClr val="F5F8FA"/>
          </a:solidFill>
          <a:ln xmlns:a="http://schemas.openxmlformats.org/drawingml/2006/main" w="9525">
            <a:solidFill>
              <a:srgbClr val="D9E2EC"/>
            </a:solidFill>
            <a:prstDash val="solid"/>
          </a:ln>
        </p:spPr>
      </p:sp>
      <p:sp>
        <p:nvSpPr>
          <p:cNvPr id="12" name="">
            <a:extLst xmlns:a="http://schemas.openxmlformats.org/drawingml/2006/main">
              <a:ext uri="{FF2B5EF4-FFF2-40B4-BE49-F238E27FC236}">
                <a16:creationId xmlns:a16="http://schemas.microsoft.com/office/drawing/2014/main" id="{AA4C7067-7A8B-4053-91CA-8E81DBAC0F28}"/>
              </a:ext>
            </a:extLst>
          </p:cNvPr>
          <p:cNvSpPr>
            <a:spLocks xmlns:a="http://schemas.openxmlformats.org/drawingml/2006/main" noGrp="1"/>
          </p:cNvSpPr>
          <p:nvPr/>
        </p:nvSpPr>
        <p:spPr>
          <a:xfrm xmlns:a="http://schemas.openxmlformats.org/drawingml/2006/main">
            <a:off x="2962275" y="1828800"/>
            <a:ext cx="400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00" b="1">
                <a:solidFill>
                  <a:srgbClr val="0F766E"/>
                </a:solidFill>
                <a:latin typeface="Segoe UI"/>
                <a:ea typeface="Segoe UI"/>
                <a:cs typeface="Segoe UI"/>
              </a:defRPr>
            </a:pPr>
            <a:r>
              <a:rPr sz="1200" b="1">
                <a:solidFill>
                  <a:srgbClr val="0F766E"/>
                </a:solidFill>
                <a:latin typeface="Segoe UI"/>
                <a:ea typeface="Segoe UI"/>
                <a:cs typeface="Segoe UI"/>
              </a:rPr>
              <a:t>02</a:t>
            </a:r>
          </a:p>
        </p:txBody>
      </p:sp>
      <p:sp>
        <p:nvSpPr>
          <p:cNvPr id="13" name="">
            <a:extLst xmlns:a="http://schemas.openxmlformats.org/drawingml/2006/main">
              <a:ext uri="{FF2B5EF4-FFF2-40B4-BE49-F238E27FC236}">
                <a16:creationId xmlns:a16="http://schemas.microsoft.com/office/drawing/2014/main" id="{6D7F1415-1A12-4396-BFFC-8EA659EA61D5}"/>
              </a:ext>
            </a:extLst>
          </p:cNvPr>
          <p:cNvSpPr>
            <a:spLocks xmlns:a="http://schemas.openxmlformats.org/drawingml/2006/main" noGrp="1"/>
          </p:cNvSpPr>
          <p:nvPr/>
        </p:nvSpPr>
        <p:spPr>
          <a:xfrm xmlns:a="http://schemas.openxmlformats.org/drawingml/2006/main">
            <a:off x="2962275" y="206692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800" b="1">
                <a:solidFill>
                  <a:srgbClr val="102A43"/>
                </a:solidFill>
                <a:latin typeface="Segoe UI"/>
                <a:ea typeface="Segoe UI"/>
                <a:cs typeface="Segoe UI"/>
              </a:defRPr>
            </a:pPr>
            <a:r>
              <a:rPr sz="1800" b="1">
                <a:solidFill>
                  <a:srgbClr val="102A43"/>
                </a:solidFill>
                <a:latin typeface="Segoe UI"/>
                <a:ea typeface="Segoe UI"/>
                <a:cs typeface="Segoe UI"/>
              </a:rPr>
              <a:t>Build facts</a:t>
            </a:r>
          </a:p>
        </p:txBody>
      </p:sp>
      <p:sp>
        <p:nvSpPr>
          <p:cNvPr id="14" name="">
            <a:extLst xmlns:a="http://schemas.openxmlformats.org/drawingml/2006/main">
              <a:ext uri="{FF2B5EF4-FFF2-40B4-BE49-F238E27FC236}">
                <a16:creationId xmlns:a16="http://schemas.microsoft.com/office/drawing/2014/main" id="{FCE46216-D682-4001-9CFD-4E53717BB665}"/>
              </a:ext>
            </a:extLst>
          </p:cNvPr>
          <p:cNvSpPr>
            <a:spLocks xmlns:a="http://schemas.openxmlformats.org/drawingml/2006/main" noGrp="1"/>
          </p:cNvSpPr>
          <p:nvPr/>
        </p:nvSpPr>
        <p:spPr>
          <a:xfrm xmlns:a="http://schemas.openxmlformats.org/drawingml/2006/main">
            <a:off x="2962275" y="2390775"/>
            <a:ext cx="1695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2000"/>
              </a:lnSpc>
              <a:buNone/>
              <a:defRPr sz="1275" b="0">
                <a:solidFill>
                  <a:srgbClr val="52606D"/>
                </a:solidFill>
                <a:latin typeface="Segoe UI"/>
                <a:ea typeface="Segoe UI"/>
                <a:cs typeface="Segoe UI"/>
              </a:defRPr>
            </a:pPr>
            <a:r>
              <a:rPr sz="1275" b="0">
                <a:solidFill>
                  <a:srgbClr val="52606D"/>
                </a:solidFill>
                <a:latin typeface="Segoe UI"/>
                <a:ea typeface="Segoe UI"/>
                <a:cs typeface="Segoe UI"/>
              </a:rPr>
              <a:t>Signals, peer ranges, and care context</a:t>
            </a:r>
          </a:p>
        </p:txBody>
      </p:sp>
      <p:sp>
        <p:nvSpPr>
          <p:cNvPr id="15" name="">
            <a:extLst xmlns:a="http://schemas.openxmlformats.org/drawingml/2006/main">
              <a:ext uri="{FF2B5EF4-FFF2-40B4-BE49-F238E27FC236}">
                <a16:creationId xmlns:a16="http://schemas.microsoft.com/office/drawing/2014/main" id="{79168C60-A082-40DE-A38F-5212B7D69FB0}"/>
              </a:ext>
            </a:extLst>
          </p:cNvPr>
          <p:cNvSpPr>
            <a:spLocks xmlns:a="http://schemas.openxmlformats.org/drawingml/2006/main" noGrp="1"/>
          </p:cNvSpPr>
          <p:nvPr/>
        </p:nvSpPr>
        <p:spPr>
          <a:xfrm xmlns:a="http://schemas.openxmlformats.org/drawingml/2006/main">
            <a:off x="4810125" y="2295525"/>
            <a:ext cx="200025" cy="9525"/>
          </a:xfrm>
          <a:prstGeom xmlns:a="http://schemas.openxmlformats.org/drawingml/2006/main" prst="line">
            <a:avLst/>
          </a:prstGeom>
          <a:noFill xmlns:a="http://schemas.openxmlformats.org/drawingml/2006/main"/>
          <a:ln xmlns:a="http://schemas.openxmlformats.org/drawingml/2006/main" w="19050">
            <a:solidFill>
              <a:srgbClr val="829AB1"/>
            </a:solidFill>
            <a:prstDash val="solid"/>
          </a:ln>
        </p:spPr>
      </p:sp>
      <p:sp>
        <p:nvSpPr>
          <p:cNvPr id="16" name="">
            <a:extLst xmlns:a="http://schemas.openxmlformats.org/drawingml/2006/main">
              <a:ext uri="{FF2B5EF4-FFF2-40B4-BE49-F238E27FC236}">
                <a16:creationId xmlns:a16="http://schemas.microsoft.com/office/drawing/2014/main" id="{34ACB3E5-38C2-4859-A968-71CE2BD1FF11}"/>
              </a:ext>
            </a:extLst>
          </p:cNvPr>
          <p:cNvSpPr>
            <a:spLocks xmlns:a="http://schemas.openxmlformats.org/drawingml/2006/main" noGrp="1"/>
          </p:cNvSpPr>
          <p:nvPr/>
        </p:nvSpPr>
        <p:spPr>
          <a:xfrm xmlns:a="http://schemas.openxmlformats.org/drawingml/2006/main">
            <a:off x="5010150" y="1695450"/>
            <a:ext cx="2000250" cy="1200150"/>
          </a:xfrm>
          <a:prstGeom xmlns:a="http://schemas.openxmlformats.org/drawingml/2006/main" prst="roundRect">
            <a:avLst>
              <a:gd name="adj" fmla="val 6349"/>
            </a:avLst>
          </a:prstGeom>
          <a:solidFill xmlns:a="http://schemas.openxmlformats.org/drawingml/2006/main">
            <a:srgbClr val="102A43"/>
          </a:solidFill>
          <a:ln xmlns:a="http://schemas.openxmlformats.org/drawingml/2006/main" w="9525">
            <a:solidFill>
              <a:srgbClr val="102A43"/>
            </a:solidFill>
            <a:prstDash val="solid"/>
          </a:ln>
        </p:spPr>
      </p:sp>
      <p:sp>
        <p:nvSpPr>
          <p:cNvPr id="17" name="">
            <a:extLst xmlns:a="http://schemas.openxmlformats.org/drawingml/2006/main">
              <a:ext uri="{FF2B5EF4-FFF2-40B4-BE49-F238E27FC236}">
                <a16:creationId xmlns:a16="http://schemas.microsoft.com/office/drawing/2014/main" id="{8D380C2D-D5CB-4809-8D88-D3B880555653}"/>
              </a:ext>
            </a:extLst>
          </p:cNvPr>
          <p:cNvSpPr>
            <a:spLocks xmlns:a="http://schemas.openxmlformats.org/drawingml/2006/main" noGrp="1"/>
          </p:cNvSpPr>
          <p:nvPr/>
        </p:nvSpPr>
        <p:spPr>
          <a:xfrm xmlns:a="http://schemas.openxmlformats.org/drawingml/2006/main">
            <a:off x="5162550" y="1828800"/>
            <a:ext cx="400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00" b="1">
                <a:solidFill>
                  <a:srgbClr val="9FB3C8"/>
                </a:solidFill>
                <a:latin typeface="Segoe UI"/>
                <a:ea typeface="Segoe UI"/>
                <a:cs typeface="Segoe UI"/>
              </a:defRPr>
            </a:pPr>
            <a:r>
              <a:rPr sz="1200" b="1">
                <a:solidFill>
                  <a:srgbClr val="9FB3C8"/>
                </a:solidFill>
                <a:latin typeface="Segoe UI"/>
                <a:ea typeface="Segoe UI"/>
                <a:cs typeface="Segoe UI"/>
              </a:rPr>
              <a:t>03</a:t>
            </a:r>
          </a:p>
        </p:txBody>
      </p:sp>
      <p:sp>
        <p:nvSpPr>
          <p:cNvPr id="18" name="">
            <a:extLst xmlns:a="http://schemas.openxmlformats.org/drawingml/2006/main">
              <a:ext uri="{FF2B5EF4-FFF2-40B4-BE49-F238E27FC236}">
                <a16:creationId xmlns:a16="http://schemas.microsoft.com/office/drawing/2014/main" id="{9B0DD75B-18C4-4934-AE36-C0F8BC5EE265}"/>
              </a:ext>
            </a:extLst>
          </p:cNvPr>
          <p:cNvSpPr>
            <a:spLocks xmlns:a="http://schemas.openxmlformats.org/drawingml/2006/main" noGrp="1"/>
          </p:cNvSpPr>
          <p:nvPr/>
        </p:nvSpPr>
        <p:spPr>
          <a:xfrm xmlns:a="http://schemas.openxmlformats.org/drawingml/2006/main">
            <a:off x="5162550" y="206692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800" b="1">
                <a:solidFill>
                  <a:srgbClr val="FFFFFF"/>
                </a:solidFill>
                <a:latin typeface="Segoe UI"/>
                <a:ea typeface="Segoe UI"/>
                <a:cs typeface="Segoe UI"/>
              </a:defRPr>
            </a:pPr>
            <a:r>
              <a:rPr sz="1800" b="1">
                <a:solidFill>
                  <a:srgbClr val="FFFFFF"/>
                </a:solidFill>
                <a:latin typeface="Segoe UI"/>
                <a:ea typeface="Segoe UI"/>
                <a:cs typeface="Segoe UI"/>
              </a:rPr>
              <a:t>Triage</a:t>
            </a:r>
          </a:p>
        </p:txBody>
      </p:sp>
      <p:sp>
        <p:nvSpPr>
          <p:cNvPr id="19" name="">
            <a:extLst xmlns:a="http://schemas.openxmlformats.org/drawingml/2006/main">
              <a:ext uri="{FF2B5EF4-FFF2-40B4-BE49-F238E27FC236}">
                <a16:creationId xmlns:a16="http://schemas.microsoft.com/office/drawing/2014/main" id="{7550D51A-46A3-4B51-98C1-E9AD08FAE8A1}"/>
              </a:ext>
            </a:extLst>
          </p:cNvPr>
          <p:cNvSpPr>
            <a:spLocks xmlns:a="http://schemas.openxmlformats.org/drawingml/2006/main" noGrp="1"/>
          </p:cNvSpPr>
          <p:nvPr/>
        </p:nvSpPr>
        <p:spPr>
          <a:xfrm xmlns:a="http://schemas.openxmlformats.org/drawingml/2006/main">
            <a:off x="5162550" y="2390775"/>
            <a:ext cx="1695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2000"/>
              </a:lnSpc>
              <a:buNone/>
              <a:defRPr sz="1275" b="0">
                <a:solidFill>
                  <a:srgbClr val="D9E2EC"/>
                </a:solidFill>
                <a:latin typeface="Segoe UI"/>
                <a:ea typeface="Segoe UI"/>
                <a:cs typeface="Segoe UI"/>
              </a:defRPr>
            </a:pPr>
            <a:r>
              <a:rPr sz="1275" b="0">
                <a:solidFill>
                  <a:srgbClr val="D9E2EC"/>
                </a:solidFill>
                <a:latin typeface="Segoe UI"/>
                <a:ea typeface="Segoe UI"/>
                <a:cs typeface="Segoe UI"/>
              </a:rPr>
              <a:t>Lane, evidence, and first action</a:t>
            </a:r>
          </a:p>
        </p:txBody>
      </p:sp>
      <p:sp>
        <p:nvSpPr>
          <p:cNvPr id="20" name="">
            <a:extLst xmlns:a="http://schemas.openxmlformats.org/drawingml/2006/main">
              <a:ext uri="{FF2B5EF4-FFF2-40B4-BE49-F238E27FC236}">
                <a16:creationId xmlns:a16="http://schemas.microsoft.com/office/drawing/2014/main" id="{321A017E-BB58-4D38-AF3F-EC3F9C202379}"/>
              </a:ext>
            </a:extLst>
          </p:cNvPr>
          <p:cNvSpPr>
            <a:spLocks xmlns:a="http://schemas.openxmlformats.org/drawingml/2006/main" noGrp="1"/>
          </p:cNvSpPr>
          <p:nvPr/>
        </p:nvSpPr>
        <p:spPr>
          <a:xfrm xmlns:a="http://schemas.openxmlformats.org/drawingml/2006/main">
            <a:off x="7010400" y="2295525"/>
            <a:ext cx="200025" cy="9525"/>
          </a:xfrm>
          <a:prstGeom xmlns:a="http://schemas.openxmlformats.org/drawingml/2006/main" prst="line">
            <a:avLst/>
          </a:prstGeom>
          <a:noFill xmlns:a="http://schemas.openxmlformats.org/drawingml/2006/main"/>
          <a:ln xmlns:a="http://schemas.openxmlformats.org/drawingml/2006/main" w="19050">
            <a:solidFill>
              <a:srgbClr val="829AB1"/>
            </a:solidFill>
            <a:prstDash val="solid"/>
          </a:ln>
        </p:spPr>
      </p:sp>
      <p:sp>
        <p:nvSpPr>
          <p:cNvPr id="21" name="">
            <a:extLst xmlns:a="http://schemas.openxmlformats.org/drawingml/2006/main">
              <a:ext uri="{FF2B5EF4-FFF2-40B4-BE49-F238E27FC236}">
                <a16:creationId xmlns:a16="http://schemas.microsoft.com/office/drawing/2014/main" id="{13C1186D-76BE-4ACE-BBE7-EEFEA4F4408B}"/>
              </a:ext>
            </a:extLst>
          </p:cNvPr>
          <p:cNvSpPr>
            <a:spLocks xmlns:a="http://schemas.openxmlformats.org/drawingml/2006/main" noGrp="1"/>
          </p:cNvSpPr>
          <p:nvPr/>
        </p:nvSpPr>
        <p:spPr>
          <a:xfrm xmlns:a="http://schemas.openxmlformats.org/drawingml/2006/main">
            <a:off x="7210425" y="1695450"/>
            <a:ext cx="2000250" cy="1200150"/>
          </a:xfrm>
          <a:prstGeom xmlns:a="http://schemas.openxmlformats.org/drawingml/2006/main" prst="roundRect">
            <a:avLst>
              <a:gd name="adj" fmla="val 6349"/>
            </a:avLst>
          </a:prstGeom>
          <a:solidFill xmlns:a="http://schemas.openxmlformats.org/drawingml/2006/main">
            <a:srgbClr val="E6F4F1"/>
          </a:solidFill>
          <a:ln xmlns:a="http://schemas.openxmlformats.org/drawingml/2006/main" w="9525">
            <a:solidFill>
              <a:srgbClr val="0F766E"/>
            </a:solidFill>
            <a:prstDash val="solid"/>
          </a:ln>
        </p:spPr>
      </p:sp>
      <p:sp>
        <p:nvSpPr>
          <p:cNvPr id="22" name="">
            <a:extLst xmlns:a="http://schemas.openxmlformats.org/drawingml/2006/main">
              <a:ext uri="{FF2B5EF4-FFF2-40B4-BE49-F238E27FC236}">
                <a16:creationId xmlns:a16="http://schemas.microsoft.com/office/drawing/2014/main" id="{7CC55595-7C15-40E5-B55F-6C196C048DAF}"/>
              </a:ext>
            </a:extLst>
          </p:cNvPr>
          <p:cNvSpPr>
            <a:spLocks xmlns:a="http://schemas.openxmlformats.org/drawingml/2006/main" noGrp="1"/>
          </p:cNvSpPr>
          <p:nvPr/>
        </p:nvSpPr>
        <p:spPr>
          <a:xfrm xmlns:a="http://schemas.openxmlformats.org/drawingml/2006/main">
            <a:off x="7362825" y="1828800"/>
            <a:ext cx="400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00" b="1">
                <a:solidFill>
                  <a:srgbClr val="0F766E"/>
                </a:solidFill>
                <a:latin typeface="Segoe UI"/>
                <a:ea typeface="Segoe UI"/>
                <a:cs typeface="Segoe UI"/>
              </a:defRPr>
            </a:pPr>
            <a:r>
              <a:rPr sz="1200" b="1">
                <a:solidFill>
                  <a:srgbClr val="0F766E"/>
                </a:solidFill>
                <a:latin typeface="Segoe UI"/>
                <a:ea typeface="Segoe UI"/>
                <a:cs typeface="Segoe UI"/>
              </a:rPr>
              <a:t>04</a:t>
            </a:r>
          </a:p>
        </p:txBody>
      </p:sp>
      <p:sp>
        <p:nvSpPr>
          <p:cNvPr id="23" name="">
            <a:extLst xmlns:a="http://schemas.openxmlformats.org/drawingml/2006/main">
              <a:ext uri="{FF2B5EF4-FFF2-40B4-BE49-F238E27FC236}">
                <a16:creationId xmlns:a16="http://schemas.microsoft.com/office/drawing/2014/main" id="{6815D4EE-9AAB-46C4-9A93-452D4CDC038E}"/>
              </a:ext>
            </a:extLst>
          </p:cNvPr>
          <p:cNvSpPr>
            <a:spLocks xmlns:a="http://schemas.openxmlformats.org/drawingml/2006/main" noGrp="1"/>
          </p:cNvSpPr>
          <p:nvPr/>
        </p:nvSpPr>
        <p:spPr>
          <a:xfrm xmlns:a="http://schemas.openxmlformats.org/drawingml/2006/main">
            <a:off x="7362825" y="206692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800" b="1">
                <a:solidFill>
                  <a:srgbClr val="102A43"/>
                </a:solidFill>
                <a:latin typeface="Segoe UI"/>
                <a:ea typeface="Segoe UI"/>
                <a:cs typeface="Segoe UI"/>
              </a:defRPr>
            </a:pPr>
            <a:r>
              <a:rPr sz="1800" b="1">
                <a:solidFill>
                  <a:srgbClr val="102A43"/>
                </a:solidFill>
                <a:latin typeface="Segoe UI"/>
                <a:ea typeface="Segoe UI"/>
                <a:cs typeface="Segoe UI"/>
              </a:rPr>
              <a:t>Write brief</a:t>
            </a:r>
          </a:p>
        </p:txBody>
      </p:sp>
      <p:sp>
        <p:nvSpPr>
          <p:cNvPr id="24" name="">
            <a:extLst xmlns:a="http://schemas.openxmlformats.org/drawingml/2006/main">
              <a:ext uri="{FF2B5EF4-FFF2-40B4-BE49-F238E27FC236}">
                <a16:creationId xmlns:a16="http://schemas.microsoft.com/office/drawing/2014/main" id="{E70FA0C0-2706-4C8A-9F01-F8BAE7D0AE34}"/>
              </a:ext>
            </a:extLst>
          </p:cNvPr>
          <p:cNvSpPr>
            <a:spLocks xmlns:a="http://schemas.openxmlformats.org/drawingml/2006/main" noGrp="1"/>
          </p:cNvSpPr>
          <p:nvPr/>
        </p:nvSpPr>
        <p:spPr>
          <a:xfrm xmlns:a="http://schemas.openxmlformats.org/drawingml/2006/main">
            <a:off x="7362825" y="2390775"/>
            <a:ext cx="1695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2000"/>
              </a:lnSpc>
              <a:buNone/>
              <a:defRPr sz="1275" b="0">
                <a:solidFill>
                  <a:srgbClr val="52606D"/>
                </a:solidFill>
                <a:latin typeface="Segoe UI"/>
                <a:ea typeface="Segoe UI"/>
                <a:cs typeface="Segoe UI"/>
              </a:defRPr>
            </a:pPr>
            <a:r>
              <a:rPr sz="1275" b="0">
                <a:solidFill>
                  <a:srgbClr val="52606D"/>
                </a:solidFill>
                <a:latin typeface="Segoe UI"/>
                <a:ea typeface="Segoe UI"/>
                <a:cs typeface="Segoe UI"/>
              </a:rPr>
              <a:t>One LLM call per case</a:t>
            </a:r>
          </a:p>
        </p:txBody>
      </p:sp>
      <p:sp>
        <p:nvSpPr>
          <p:cNvPr id="25" name="">
            <a:extLst xmlns:a="http://schemas.openxmlformats.org/drawingml/2006/main">
              <a:ext uri="{FF2B5EF4-FFF2-40B4-BE49-F238E27FC236}">
                <a16:creationId xmlns:a16="http://schemas.microsoft.com/office/drawing/2014/main" id="{168FA905-34D2-484B-87A9-8B50908F9A60}"/>
              </a:ext>
            </a:extLst>
          </p:cNvPr>
          <p:cNvSpPr>
            <a:spLocks xmlns:a="http://schemas.openxmlformats.org/drawingml/2006/main" noGrp="1"/>
          </p:cNvSpPr>
          <p:nvPr/>
        </p:nvSpPr>
        <p:spPr>
          <a:xfrm xmlns:a="http://schemas.openxmlformats.org/drawingml/2006/main">
            <a:off x="9210675" y="2295525"/>
            <a:ext cx="200025" cy="9525"/>
          </a:xfrm>
          <a:prstGeom xmlns:a="http://schemas.openxmlformats.org/drawingml/2006/main" prst="line">
            <a:avLst/>
          </a:prstGeom>
          <a:noFill xmlns:a="http://schemas.openxmlformats.org/drawingml/2006/main"/>
          <a:ln xmlns:a="http://schemas.openxmlformats.org/drawingml/2006/main" w="19050">
            <a:solidFill>
              <a:srgbClr val="829AB1"/>
            </a:solidFill>
            <a:prstDash val="solid"/>
          </a:ln>
        </p:spPr>
      </p:sp>
      <p:sp>
        <p:nvSpPr>
          <p:cNvPr id="26" name="">
            <a:extLst xmlns:a="http://schemas.openxmlformats.org/drawingml/2006/main">
              <a:ext uri="{FF2B5EF4-FFF2-40B4-BE49-F238E27FC236}">
                <a16:creationId xmlns:a16="http://schemas.microsoft.com/office/drawing/2014/main" id="{7493133C-FE31-4792-AAAE-B1BF3E534D5B}"/>
              </a:ext>
            </a:extLst>
          </p:cNvPr>
          <p:cNvSpPr>
            <a:spLocks xmlns:a="http://schemas.openxmlformats.org/drawingml/2006/main" noGrp="1"/>
          </p:cNvSpPr>
          <p:nvPr/>
        </p:nvSpPr>
        <p:spPr>
          <a:xfrm xmlns:a="http://schemas.openxmlformats.org/drawingml/2006/main">
            <a:off x="9410700" y="1695450"/>
            <a:ext cx="2000250" cy="1200150"/>
          </a:xfrm>
          <a:prstGeom xmlns:a="http://schemas.openxmlformats.org/drawingml/2006/main" prst="roundRect">
            <a:avLst>
              <a:gd name="adj" fmla="val 6349"/>
            </a:avLst>
          </a:prstGeom>
          <a:solidFill xmlns:a="http://schemas.openxmlformats.org/drawingml/2006/main">
            <a:srgbClr val="F5F8FA"/>
          </a:solidFill>
          <a:ln xmlns:a="http://schemas.openxmlformats.org/drawingml/2006/main" w="9525">
            <a:solidFill>
              <a:srgbClr val="D9E2EC"/>
            </a:solidFill>
            <a:prstDash val="solid"/>
          </a:ln>
        </p:spPr>
      </p:sp>
      <p:sp>
        <p:nvSpPr>
          <p:cNvPr id="27" name="">
            <a:extLst xmlns:a="http://schemas.openxmlformats.org/drawingml/2006/main">
              <a:ext uri="{FF2B5EF4-FFF2-40B4-BE49-F238E27FC236}">
                <a16:creationId xmlns:a16="http://schemas.microsoft.com/office/drawing/2014/main" id="{C84043AA-FE95-4C96-BEDF-DC8365A7496D}"/>
              </a:ext>
            </a:extLst>
          </p:cNvPr>
          <p:cNvSpPr>
            <a:spLocks xmlns:a="http://schemas.openxmlformats.org/drawingml/2006/main" noGrp="1"/>
          </p:cNvSpPr>
          <p:nvPr/>
        </p:nvSpPr>
        <p:spPr>
          <a:xfrm xmlns:a="http://schemas.openxmlformats.org/drawingml/2006/main">
            <a:off x="9563100" y="1828800"/>
            <a:ext cx="4000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00" b="1">
                <a:solidFill>
                  <a:srgbClr val="0F766E"/>
                </a:solidFill>
                <a:latin typeface="Segoe UI"/>
                <a:ea typeface="Segoe UI"/>
                <a:cs typeface="Segoe UI"/>
              </a:defRPr>
            </a:pPr>
            <a:r>
              <a:rPr sz="1200" b="1">
                <a:solidFill>
                  <a:srgbClr val="0F766E"/>
                </a:solidFill>
                <a:latin typeface="Segoe UI"/>
                <a:ea typeface="Segoe UI"/>
                <a:cs typeface="Segoe UI"/>
              </a:rPr>
              <a:t>05</a:t>
            </a:r>
          </a:p>
        </p:txBody>
      </p:sp>
      <p:sp>
        <p:nvSpPr>
          <p:cNvPr id="28" name="">
            <a:extLst xmlns:a="http://schemas.openxmlformats.org/drawingml/2006/main">
              <a:ext uri="{FF2B5EF4-FFF2-40B4-BE49-F238E27FC236}">
                <a16:creationId xmlns:a16="http://schemas.microsoft.com/office/drawing/2014/main" id="{5133FEF9-F286-4A3A-9FAC-A3FD6B3E24EB}"/>
              </a:ext>
            </a:extLst>
          </p:cNvPr>
          <p:cNvSpPr>
            <a:spLocks xmlns:a="http://schemas.openxmlformats.org/drawingml/2006/main" noGrp="1"/>
          </p:cNvSpPr>
          <p:nvPr/>
        </p:nvSpPr>
        <p:spPr>
          <a:xfrm xmlns:a="http://schemas.openxmlformats.org/drawingml/2006/main">
            <a:off x="9563100" y="2066925"/>
            <a:ext cx="16954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800" b="1">
                <a:solidFill>
                  <a:srgbClr val="102A43"/>
                </a:solidFill>
                <a:latin typeface="Segoe UI"/>
                <a:ea typeface="Segoe UI"/>
                <a:cs typeface="Segoe UI"/>
              </a:defRPr>
            </a:pPr>
            <a:r>
              <a:rPr sz="1800" b="1">
                <a:solidFill>
                  <a:srgbClr val="102A43"/>
                </a:solidFill>
                <a:latin typeface="Segoe UI"/>
                <a:ea typeface="Segoe UI"/>
                <a:cs typeface="Segoe UI"/>
              </a:rPr>
              <a:t>Check</a:t>
            </a:r>
          </a:p>
        </p:txBody>
      </p:sp>
      <p:sp>
        <p:nvSpPr>
          <p:cNvPr id="29" name="">
            <a:extLst xmlns:a="http://schemas.openxmlformats.org/drawingml/2006/main">
              <a:ext uri="{FF2B5EF4-FFF2-40B4-BE49-F238E27FC236}">
                <a16:creationId xmlns:a16="http://schemas.microsoft.com/office/drawing/2014/main" id="{BBAC30D6-BD5D-4607-A261-3B1BBB8CCB6D}"/>
              </a:ext>
            </a:extLst>
          </p:cNvPr>
          <p:cNvSpPr>
            <a:spLocks xmlns:a="http://schemas.openxmlformats.org/drawingml/2006/main" noGrp="1"/>
          </p:cNvSpPr>
          <p:nvPr/>
        </p:nvSpPr>
        <p:spPr>
          <a:xfrm xmlns:a="http://schemas.openxmlformats.org/drawingml/2006/main">
            <a:off x="9563100" y="2390775"/>
            <a:ext cx="16954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2000"/>
              </a:lnSpc>
              <a:buNone/>
              <a:defRPr sz="1275" b="0">
                <a:solidFill>
                  <a:srgbClr val="52606D"/>
                </a:solidFill>
                <a:latin typeface="Segoe UI"/>
                <a:ea typeface="Segoe UI"/>
                <a:cs typeface="Segoe UI"/>
              </a:defRPr>
            </a:pPr>
            <a:r>
              <a:rPr sz="1275" b="0">
                <a:solidFill>
                  <a:srgbClr val="52606D"/>
                </a:solidFill>
                <a:latin typeface="Segoe UI"/>
                <a:ea typeface="Segoe UI"/>
                <a:cs typeface="Segoe UI"/>
              </a:rPr>
              <a:t>Verify, repair once, cache; rule fallback</a:t>
            </a:r>
          </a:p>
        </p:txBody>
      </p:sp>
      <p:sp>
        <p:nvSpPr>
          <p:cNvPr id="30" name="">
            <a:extLst xmlns:a="http://schemas.openxmlformats.org/drawingml/2006/main">
              <a:ext uri="{FF2B5EF4-FFF2-40B4-BE49-F238E27FC236}">
                <a16:creationId xmlns:a16="http://schemas.microsoft.com/office/drawing/2014/main" id="{66F92E18-237A-4B50-9D35-7F1C242342CC}"/>
              </a:ext>
            </a:extLst>
          </p:cNvPr>
          <p:cNvSpPr>
            <a:spLocks xmlns:a="http://schemas.openxmlformats.org/drawingml/2006/main" noGrp="1"/>
          </p:cNvSpPr>
          <p:nvPr/>
        </p:nvSpPr>
        <p:spPr>
          <a:xfrm xmlns:a="http://schemas.openxmlformats.org/drawingml/2006/main">
            <a:off x="609600" y="3219450"/>
            <a:ext cx="4953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HOW THE SYSTEM REASONS</a:t>
            </a:r>
          </a:p>
        </p:txBody>
      </p:sp>
      <p:sp>
        <p:nvSpPr>
          <p:cNvPr id="31" name="">
            <a:extLst xmlns:a="http://schemas.openxmlformats.org/drawingml/2006/main">
              <a:ext uri="{FF2B5EF4-FFF2-40B4-BE49-F238E27FC236}">
                <a16:creationId xmlns:a16="http://schemas.microsoft.com/office/drawing/2014/main" id="{326BBC62-3E2C-40DF-B9F8-7BD0534F88EB}"/>
              </a:ext>
            </a:extLst>
          </p:cNvPr>
          <p:cNvSpPr>
            <a:spLocks xmlns:a="http://schemas.openxmlformats.org/drawingml/2006/main" noGrp="1"/>
          </p:cNvSpPr>
          <p:nvPr/>
        </p:nvSpPr>
        <p:spPr>
          <a:xfrm xmlns:a="http://schemas.openxmlformats.org/drawingml/2006/main">
            <a:off x="609600" y="35528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1</a:t>
            </a:r>
          </a:p>
        </p:txBody>
      </p:sp>
      <p:sp>
        <p:nvSpPr>
          <p:cNvPr id="32" name="">
            <a:extLst xmlns:a="http://schemas.openxmlformats.org/drawingml/2006/main">
              <a:ext uri="{FF2B5EF4-FFF2-40B4-BE49-F238E27FC236}">
                <a16:creationId xmlns:a16="http://schemas.microsoft.com/office/drawing/2014/main" id="{954A2780-96B1-47DE-9A05-B0D5C76DBE5B}"/>
              </a:ext>
            </a:extLst>
          </p:cNvPr>
          <p:cNvSpPr>
            <a:spLocks xmlns:a="http://schemas.openxmlformats.org/drawingml/2006/main" noGrp="1"/>
          </p:cNvSpPr>
          <p:nvPr/>
        </p:nvSpPr>
        <p:spPr>
          <a:xfrm xmlns:a="http://schemas.openxmlformats.org/drawingml/2006/main">
            <a:off x="990600" y="3543300"/>
            <a:ext cx="4714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Transparent index</a:t>
            </a:r>
          </a:p>
        </p:txBody>
      </p:sp>
      <p:sp>
        <p:nvSpPr>
          <p:cNvPr id="33" name="">
            <a:extLst xmlns:a="http://schemas.openxmlformats.org/drawingml/2006/main">
              <a:ext uri="{FF2B5EF4-FFF2-40B4-BE49-F238E27FC236}">
                <a16:creationId xmlns:a16="http://schemas.microsoft.com/office/drawing/2014/main" id="{A30020C7-22E2-4C8B-96A8-C70E70A79773}"/>
              </a:ext>
            </a:extLst>
          </p:cNvPr>
          <p:cNvSpPr>
            <a:spLocks xmlns:a="http://schemas.openxmlformats.org/drawingml/2006/main" noGrp="1"/>
          </p:cNvSpPr>
          <p:nvPr/>
        </p:nvSpPr>
        <p:spPr>
          <a:xfrm xmlns:a="http://schemas.openxmlformats.org/drawingml/2006/main">
            <a:off x="990600" y="3838575"/>
            <a:ext cx="4714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Signals become queue percentiles; their plain average is a descriptive index.</a:t>
            </a:r>
          </a:p>
        </p:txBody>
      </p:sp>
      <p:sp>
        <p:nvSpPr>
          <p:cNvPr id="34" name="">
            <a:extLst xmlns:a="http://schemas.openxmlformats.org/drawingml/2006/main">
              <a:ext uri="{FF2B5EF4-FFF2-40B4-BE49-F238E27FC236}">
                <a16:creationId xmlns:a16="http://schemas.microsoft.com/office/drawing/2014/main" id="{A8A0AEE7-904B-4375-865A-B9FF7DB8C190}"/>
              </a:ext>
            </a:extLst>
          </p:cNvPr>
          <p:cNvSpPr>
            <a:spLocks xmlns:a="http://schemas.openxmlformats.org/drawingml/2006/main" noGrp="1"/>
          </p:cNvSpPr>
          <p:nvPr/>
        </p:nvSpPr>
        <p:spPr>
          <a:xfrm xmlns:a="http://schemas.openxmlformats.org/drawingml/2006/main">
            <a:off x="609600" y="43529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2</a:t>
            </a:r>
          </a:p>
        </p:txBody>
      </p:sp>
      <p:sp>
        <p:nvSpPr>
          <p:cNvPr id="35" name="">
            <a:extLst xmlns:a="http://schemas.openxmlformats.org/drawingml/2006/main">
              <a:ext uri="{FF2B5EF4-FFF2-40B4-BE49-F238E27FC236}">
                <a16:creationId xmlns:a16="http://schemas.microsoft.com/office/drawing/2014/main" id="{E95203D8-6BF0-4CE7-8C1E-6AC41739311E}"/>
              </a:ext>
            </a:extLst>
          </p:cNvPr>
          <p:cNvSpPr>
            <a:spLocks xmlns:a="http://schemas.openxmlformats.org/drawingml/2006/main" noGrp="1"/>
          </p:cNvSpPr>
          <p:nvPr/>
        </p:nvSpPr>
        <p:spPr>
          <a:xfrm xmlns:a="http://schemas.openxmlformats.org/drawingml/2006/main">
            <a:off x="990600" y="4343400"/>
            <a:ext cx="4714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Groups before labels</a:t>
            </a:r>
          </a:p>
        </p:txBody>
      </p:sp>
      <p:sp>
        <p:nvSpPr>
          <p:cNvPr id="36" name="">
            <a:extLst xmlns:a="http://schemas.openxmlformats.org/drawingml/2006/main">
              <a:ext uri="{FF2B5EF4-FFF2-40B4-BE49-F238E27FC236}">
                <a16:creationId xmlns:a16="http://schemas.microsoft.com/office/drawing/2014/main" id="{58ACC48B-E4A6-4877-A01D-CFC167AD7DEA}"/>
              </a:ext>
            </a:extLst>
          </p:cNvPr>
          <p:cNvSpPr>
            <a:spLocks xmlns:a="http://schemas.openxmlformats.org/drawingml/2006/main" noGrp="1"/>
          </p:cNvSpPr>
          <p:nvPr/>
        </p:nvSpPr>
        <p:spPr>
          <a:xfrm xmlns:a="http://schemas.openxmlformats.org/drawingml/2006/main">
            <a:off x="990600" y="4638675"/>
            <a:ext cx="4714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Two gaps form 30 / 12 / 8 groups; safety rules produce 29 / 13 / 8 lanes.</a:t>
            </a:r>
          </a:p>
        </p:txBody>
      </p:sp>
      <p:sp>
        <p:nvSpPr>
          <p:cNvPr id="37" name="">
            <a:extLst xmlns:a="http://schemas.openxmlformats.org/drawingml/2006/main">
              <a:ext uri="{FF2B5EF4-FFF2-40B4-BE49-F238E27FC236}">
                <a16:creationId xmlns:a16="http://schemas.microsoft.com/office/drawing/2014/main" id="{A55DCDE9-1999-4C3D-A820-A96600B7498C}"/>
              </a:ext>
            </a:extLst>
          </p:cNvPr>
          <p:cNvSpPr>
            <a:spLocks xmlns:a="http://schemas.openxmlformats.org/drawingml/2006/main" noGrp="1"/>
          </p:cNvSpPr>
          <p:nvPr/>
        </p:nvSpPr>
        <p:spPr>
          <a:xfrm xmlns:a="http://schemas.openxmlformats.org/drawingml/2006/main">
            <a:off x="609600" y="51530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3</a:t>
            </a:r>
          </a:p>
        </p:txBody>
      </p:sp>
      <p:sp>
        <p:nvSpPr>
          <p:cNvPr id="38" name="">
            <a:extLst xmlns:a="http://schemas.openxmlformats.org/drawingml/2006/main">
              <a:ext uri="{FF2B5EF4-FFF2-40B4-BE49-F238E27FC236}">
                <a16:creationId xmlns:a16="http://schemas.microsoft.com/office/drawing/2014/main" id="{F311061D-1D9B-4D64-A77F-EFB9A2850682}"/>
              </a:ext>
            </a:extLst>
          </p:cNvPr>
          <p:cNvSpPr>
            <a:spLocks xmlns:a="http://schemas.openxmlformats.org/drawingml/2006/main" noGrp="1"/>
          </p:cNvSpPr>
          <p:nvPr/>
        </p:nvSpPr>
        <p:spPr>
          <a:xfrm xmlns:a="http://schemas.openxmlformats.org/drawingml/2006/main">
            <a:off x="990600" y="5143500"/>
            <a:ext cx="4714875"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Statistical cross-check</a:t>
            </a:r>
          </a:p>
        </p:txBody>
      </p:sp>
      <p:sp>
        <p:nvSpPr>
          <p:cNvPr id="39" name="">
            <a:extLst xmlns:a="http://schemas.openxmlformats.org/drawingml/2006/main">
              <a:ext uri="{FF2B5EF4-FFF2-40B4-BE49-F238E27FC236}">
                <a16:creationId xmlns:a16="http://schemas.microsoft.com/office/drawing/2014/main" id="{5E9F5B51-8CA9-4CEA-AAF0-2CA9123B4226}"/>
              </a:ext>
            </a:extLst>
          </p:cNvPr>
          <p:cNvSpPr>
            <a:spLocks xmlns:a="http://schemas.openxmlformats.org/drawingml/2006/main" noGrp="1"/>
          </p:cNvSpPr>
          <p:nvPr/>
        </p:nvSpPr>
        <p:spPr>
          <a:xfrm xmlns:a="http://schemas.openxmlformats.org/drawingml/2006/main">
            <a:off x="990600" y="5438775"/>
            <a:ext cx="471487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PC1 explains 74.5%; index–PC1 r = 0.999. These do not measure fraud accuracy.</a:t>
            </a:r>
          </a:p>
        </p:txBody>
      </p:sp>
      <p:sp>
        <p:nvSpPr>
          <p:cNvPr id="40" name="">
            <a:extLst xmlns:a="http://schemas.openxmlformats.org/drawingml/2006/main">
              <a:ext uri="{FF2B5EF4-FFF2-40B4-BE49-F238E27FC236}">
                <a16:creationId xmlns:a16="http://schemas.microsoft.com/office/drawing/2014/main" id="{86305976-BA02-43AC-A216-A59A69CA82FD}"/>
              </a:ext>
            </a:extLst>
          </p:cNvPr>
          <p:cNvSpPr>
            <a:spLocks xmlns:a="http://schemas.openxmlformats.org/drawingml/2006/main" noGrp="1"/>
          </p:cNvSpPr>
          <p:nvPr/>
        </p:nvSpPr>
        <p:spPr>
          <a:xfrm xmlns:a="http://schemas.openxmlformats.org/drawingml/2006/main">
            <a:off x="6019800" y="3219450"/>
            <a:ext cx="9525"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41" name="">
            <a:extLst xmlns:a="http://schemas.openxmlformats.org/drawingml/2006/main">
              <a:ext uri="{FF2B5EF4-FFF2-40B4-BE49-F238E27FC236}">
                <a16:creationId xmlns:a16="http://schemas.microsoft.com/office/drawing/2014/main" id="{BD1EFFCA-12B2-4A79-B6A5-1C0EF3AB6A97}"/>
              </a:ext>
            </a:extLst>
          </p:cNvPr>
          <p:cNvSpPr>
            <a:spLocks xmlns:a="http://schemas.openxmlformats.org/drawingml/2006/main" noGrp="1"/>
          </p:cNvSpPr>
          <p:nvPr/>
        </p:nvSpPr>
        <p:spPr>
          <a:xfrm xmlns:a="http://schemas.openxmlformats.org/drawingml/2006/main">
            <a:off x="6419850" y="3219450"/>
            <a:ext cx="51625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HOW THE AI IS KEPT GROUNDED</a:t>
            </a:r>
          </a:p>
        </p:txBody>
      </p:sp>
      <p:sp>
        <p:nvSpPr>
          <p:cNvPr id="42" name="">
            <a:extLst xmlns:a="http://schemas.openxmlformats.org/drawingml/2006/main">
              <a:ext uri="{FF2B5EF4-FFF2-40B4-BE49-F238E27FC236}">
                <a16:creationId xmlns:a16="http://schemas.microsoft.com/office/drawing/2014/main" id="{8041FE82-B152-4AB0-875F-77805AF637F1}"/>
              </a:ext>
            </a:extLst>
          </p:cNvPr>
          <p:cNvSpPr>
            <a:spLocks xmlns:a="http://schemas.openxmlformats.org/drawingml/2006/main" noGrp="1"/>
          </p:cNvSpPr>
          <p:nvPr/>
        </p:nvSpPr>
        <p:spPr>
          <a:xfrm xmlns:a="http://schemas.openxmlformats.org/drawingml/2006/main">
            <a:off x="6419850" y="35528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1</a:t>
            </a:r>
          </a:p>
        </p:txBody>
      </p:sp>
      <p:sp>
        <p:nvSpPr>
          <p:cNvPr id="43" name="">
            <a:extLst xmlns:a="http://schemas.openxmlformats.org/drawingml/2006/main">
              <a:ext uri="{FF2B5EF4-FFF2-40B4-BE49-F238E27FC236}">
                <a16:creationId xmlns:a16="http://schemas.microsoft.com/office/drawing/2014/main" id="{821B3487-39FC-4F18-938C-F655BF48B823}"/>
              </a:ext>
            </a:extLst>
          </p:cNvPr>
          <p:cNvSpPr>
            <a:spLocks xmlns:a="http://schemas.openxmlformats.org/drawingml/2006/main" noGrp="1"/>
          </p:cNvSpPr>
          <p:nvPr/>
        </p:nvSpPr>
        <p:spPr>
          <a:xfrm xmlns:a="http://schemas.openxmlformats.org/drawingml/2006/main">
            <a:off x="6800850" y="3543300"/>
            <a:ext cx="478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One constrained call</a:t>
            </a:r>
          </a:p>
        </p:txBody>
      </p:sp>
      <p:sp>
        <p:nvSpPr>
          <p:cNvPr id="44" name="">
            <a:extLst xmlns:a="http://schemas.openxmlformats.org/drawingml/2006/main">
              <a:ext uri="{FF2B5EF4-FFF2-40B4-BE49-F238E27FC236}">
                <a16:creationId xmlns:a16="http://schemas.microsoft.com/office/drawing/2014/main" id="{DC6E3186-5DEB-49F9-8448-64C221827CF0}"/>
              </a:ext>
            </a:extLst>
          </p:cNvPr>
          <p:cNvSpPr>
            <a:spLocks xmlns:a="http://schemas.openxmlformats.org/drawingml/2006/main" noGrp="1"/>
          </p:cNvSpPr>
          <p:nvPr/>
        </p:nvSpPr>
        <p:spPr>
          <a:xfrm xmlns:a="http://schemas.openxmlformats.org/drawingml/2006/main">
            <a:off x="6800850" y="3838575"/>
            <a:ext cx="4781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The model writes from a fixed fact sheet; it cannot choose lane, evidence, or action.</a:t>
            </a:r>
          </a:p>
        </p:txBody>
      </p:sp>
      <p:sp>
        <p:nvSpPr>
          <p:cNvPr id="45" name="">
            <a:extLst xmlns:a="http://schemas.openxmlformats.org/drawingml/2006/main">
              <a:ext uri="{FF2B5EF4-FFF2-40B4-BE49-F238E27FC236}">
                <a16:creationId xmlns:a16="http://schemas.microsoft.com/office/drawing/2014/main" id="{48F953FB-4ADB-4B48-9B7C-71197DD6282D}"/>
              </a:ext>
            </a:extLst>
          </p:cNvPr>
          <p:cNvSpPr>
            <a:spLocks xmlns:a="http://schemas.openxmlformats.org/drawingml/2006/main" noGrp="1"/>
          </p:cNvSpPr>
          <p:nvPr/>
        </p:nvSpPr>
        <p:spPr>
          <a:xfrm xmlns:a="http://schemas.openxmlformats.org/drawingml/2006/main">
            <a:off x="6419850" y="43529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2</a:t>
            </a:r>
          </a:p>
        </p:txBody>
      </p:sp>
      <p:sp>
        <p:nvSpPr>
          <p:cNvPr id="46" name="">
            <a:extLst xmlns:a="http://schemas.openxmlformats.org/drawingml/2006/main">
              <a:ext uri="{FF2B5EF4-FFF2-40B4-BE49-F238E27FC236}">
                <a16:creationId xmlns:a16="http://schemas.microsoft.com/office/drawing/2014/main" id="{587EE38C-EADB-481C-B096-3D9A3CEE2E78}"/>
              </a:ext>
            </a:extLst>
          </p:cNvPr>
          <p:cNvSpPr>
            <a:spLocks xmlns:a="http://schemas.openxmlformats.org/drawingml/2006/main" noGrp="1"/>
          </p:cNvSpPr>
          <p:nvPr/>
        </p:nvSpPr>
        <p:spPr>
          <a:xfrm xmlns:a="http://schemas.openxmlformats.org/drawingml/2006/main">
            <a:off x="6800850" y="4343400"/>
            <a:ext cx="478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Checks and fallback</a:t>
            </a:r>
          </a:p>
        </p:txBody>
      </p:sp>
      <p:sp>
        <p:nvSpPr>
          <p:cNvPr id="47" name="">
            <a:extLst xmlns:a="http://schemas.openxmlformats.org/drawingml/2006/main">
              <a:ext uri="{FF2B5EF4-FFF2-40B4-BE49-F238E27FC236}">
                <a16:creationId xmlns:a16="http://schemas.microsoft.com/office/drawing/2014/main" id="{544B2888-EBA3-4F4B-B92C-02D3B7B25F1D}"/>
              </a:ext>
            </a:extLst>
          </p:cNvPr>
          <p:cNvSpPr>
            <a:spLocks xmlns:a="http://schemas.openxmlformats.org/drawingml/2006/main" noGrp="1"/>
          </p:cNvSpPr>
          <p:nvPr/>
        </p:nvSpPr>
        <p:spPr>
          <a:xfrm xmlns:a="http://schemas.openxmlformats.org/drawingml/2006/main">
            <a:off x="6800850" y="4638675"/>
            <a:ext cx="4781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Checks cover numbers, entities, lane wording, and unsafe claims. Repair once; then use the rule brief.</a:t>
            </a:r>
          </a:p>
        </p:txBody>
      </p:sp>
      <p:sp>
        <p:nvSpPr>
          <p:cNvPr id="48" name="">
            <a:extLst xmlns:a="http://schemas.openxmlformats.org/drawingml/2006/main">
              <a:ext uri="{FF2B5EF4-FFF2-40B4-BE49-F238E27FC236}">
                <a16:creationId xmlns:a16="http://schemas.microsoft.com/office/drawing/2014/main" id="{C522007B-43B5-4B6A-97D6-CD4FE73FB2D3}"/>
              </a:ext>
            </a:extLst>
          </p:cNvPr>
          <p:cNvSpPr>
            <a:spLocks xmlns:a="http://schemas.openxmlformats.org/drawingml/2006/main" noGrp="1"/>
          </p:cNvSpPr>
          <p:nvPr/>
        </p:nvSpPr>
        <p:spPr>
          <a:xfrm xmlns:a="http://schemas.openxmlformats.org/drawingml/2006/main">
            <a:off x="6419850" y="51530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3</a:t>
            </a:r>
          </a:p>
        </p:txBody>
      </p:sp>
      <p:sp>
        <p:nvSpPr>
          <p:cNvPr id="49" name="">
            <a:extLst xmlns:a="http://schemas.openxmlformats.org/drawingml/2006/main">
              <a:ext uri="{FF2B5EF4-FFF2-40B4-BE49-F238E27FC236}">
                <a16:creationId xmlns:a16="http://schemas.microsoft.com/office/drawing/2014/main" id="{FE253A93-6319-4C80-9101-89AF06DD007F}"/>
              </a:ext>
            </a:extLst>
          </p:cNvPr>
          <p:cNvSpPr>
            <a:spLocks xmlns:a="http://schemas.openxmlformats.org/drawingml/2006/main" noGrp="1"/>
          </p:cNvSpPr>
          <p:nvPr/>
        </p:nvSpPr>
        <p:spPr>
          <a:xfrm xmlns:a="http://schemas.openxmlformats.org/drawingml/2006/main">
            <a:off x="6800850" y="5143500"/>
            <a:ext cx="478155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Evidence stays deterministic</a:t>
            </a:r>
          </a:p>
        </p:txBody>
      </p:sp>
      <p:sp>
        <p:nvSpPr>
          <p:cNvPr id="50" name="">
            <a:extLst xmlns:a="http://schemas.openxmlformats.org/drawingml/2006/main">
              <a:ext uri="{FF2B5EF4-FFF2-40B4-BE49-F238E27FC236}">
                <a16:creationId xmlns:a16="http://schemas.microsoft.com/office/drawing/2014/main" id="{451D3D09-26A2-4600-BBB8-41C144CE0D8B}"/>
              </a:ext>
            </a:extLst>
          </p:cNvPr>
          <p:cNvSpPr>
            <a:spLocks xmlns:a="http://schemas.openxmlformats.org/drawingml/2006/main" noGrp="1"/>
          </p:cNvSpPr>
          <p:nvPr/>
        </p:nvSpPr>
        <p:spPr>
          <a:xfrm xmlns:a="http://schemas.openxmlformats.org/drawingml/2006/main">
            <a:off x="6800850" y="5438775"/>
            <a:ext cx="47815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Frozen 19-case check: model-selected required evidence 62%; deterministic engine 100%.</a:t>
            </a:r>
          </a:p>
        </p:txBody>
      </p:sp>
      <p:sp>
        <p:nvSpPr>
          <p:cNvPr id="51" name="">
            <a:extLst xmlns:a="http://schemas.openxmlformats.org/drawingml/2006/main">
              <a:ext uri="{FF2B5EF4-FFF2-40B4-BE49-F238E27FC236}">
                <a16:creationId xmlns:a16="http://schemas.microsoft.com/office/drawing/2014/main" id="{19F94322-B789-44A2-BE05-BE4645EAFDA2}"/>
              </a:ext>
            </a:extLst>
          </p:cNvPr>
          <p:cNvSpPr>
            <a:spLocks xmlns:a="http://schemas.openxmlformats.org/drawingml/2006/main" noGrp="1"/>
          </p:cNvSpPr>
          <p:nvPr/>
        </p:nvSpPr>
        <p:spPr>
          <a:xfrm xmlns:a="http://schemas.openxmlformats.org/drawingml/2006/main">
            <a:off x="609600" y="6010275"/>
            <a:ext cx="10972800" cy="361950"/>
          </a:xfrm>
          <a:prstGeom xmlns:a="http://schemas.openxmlformats.org/drawingml/2006/main" prst="rect">
            <a:avLst/>
          </a:prstGeom>
          <a:solidFill xmlns:a="http://schemas.openxmlformats.org/drawingml/2006/main">
            <a:srgbClr val="EAF0FF"/>
          </a:solidFill>
          <a:ln xmlns:a="http://schemas.openxmlformats.org/drawingml/2006/main" w="0">
            <a:noFill/>
            <a:prstDash val="solid"/>
          </a:ln>
        </p:spPr>
      </p:sp>
      <p:sp>
        <p:nvSpPr>
          <p:cNvPr id="52" name="">
            <a:extLst xmlns:a="http://schemas.openxmlformats.org/drawingml/2006/main">
              <a:ext uri="{FF2B5EF4-FFF2-40B4-BE49-F238E27FC236}">
                <a16:creationId xmlns:a16="http://schemas.microsoft.com/office/drawing/2014/main" id="{8A0E1FB7-7730-4987-90D8-A5F69DAD85D0}"/>
              </a:ext>
            </a:extLst>
          </p:cNvPr>
          <p:cNvSpPr>
            <a:spLocks xmlns:a="http://schemas.openxmlformats.org/drawingml/2006/main" noGrp="1"/>
          </p:cNvSpPr>
          <p:nvPr/>
        </p:nvSpPr>
        <p:spPr>
          <a:xfrm xmlns:a="http://schemas.openxmlformats.org/drawingml/2006/main">
            <a:off x="781050" y="6086475"/>
            <a:ext cx="106299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425" b="1">
                <a:solidFill>
                  <a:srgbClr val="102A43"/>
                </a:solidFill>
                <a:latin typeface="Segoe UI"/>
                <a:ea typeface="Segoe UI"/>
                <a:cs typeface="Segoe UI"/>
              </a:defRPr>
            </a:pPr>
            <a:r>
              <a:rPr sz="1425" b="1">
                <a:solidFill>
                  <a:srgbClr val="102A43"/>
                </a:solidFill>
                <a:latin typeface="Segoe UI"/>
                <a:ea typeface="Segoe UI"/>
                <a:cs typeface="Segoe UI"/>
              </a:rPr>
              <a:t>Scale: batch and cache briefs; freeze references by care type; version calibration; monitor drift, cost, and latency.</a:t>
            </a:r>
          </a:p>
        </p:txBody>
      </p:sp>
    </p:spTree>
    <p:extLst>
      <p:ext uri="{BB962C8B-B14F-4D97-AF65-F5344CB8AC3E}">
        <p14:creationId xmlns:p14="http://schemas.microsoft.com/office/powerpoint/2010/main" val="33873774"/>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9" name="">
            <a:extLst xmlns:a="http://schemas.openxmlformats.org/drawingml/2006/main">
              <a:ext uri="{FF2B5EF4-FFF2-40B4-BE49-F238E27FC236}">
                <a16:creationId xmlns:a16="http://schemas.microsoft.com/office/drawing/2014/main" id="{74132A3A-613A-4607-BFF3-DCA3CB01CDA6}"/>
              </a:ext>
            </a:extLst>
          </p:cNvPr>
          <p:cNvSpPr>
            <a:spLocks xmlns:a="http://schemas.openxmlformats.org/drawingml/2006/main" noGrp="1"/>
          </p:cNvSpPr>
          <p:nvPr/>
        </p:nvSpPr>
        <p:spPr>
          <a:xfrm xmlns:a="http://schemas.openxmlformats.org/drawingml/2006/main">
            <a:off x="0" y="0"/>
            <a:ext cx="171450" cy="6858000"/>
          </a:xfrm>
          <a:prstGeom xmlns:a="http://schemas.openxmlformats.org/drawingml/2006/main" prst="rect">
            <a:avLst/>
          </a:prstGeom>
          <a:solidFill xmlns:a="http://schemas.openxmlformats.org/drawingml/2006/main">
            <a:srgbClr val="0F766E"/>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F1E9AA0-4A96-4945-83A5-95485801883F}"/>
              </a:ext>
            </a:extLst>
          </p:cNvPr>
          <p:cNvSpPr>
            <a:spLocks xmlns:a="http://schemas.openxmlformats.org/drawingml/2006/main" noGrp="1"/>
          </p:cNvSpPr>
          <p:nvPr/>
        </p:nvSpPr>
        <p:spPr>
          <a:xfrm xmlns:a="http://schemas.openxmlformats.org/drawingml/2006/main">
            <a:off x="609600" y="400050"/>
            <a:ext cx="106680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3600" b="1">
                <a:solidFill>
                  <a:srgbClr val="102A43"/>
                </a:solidFill>
                <a:latin typeface="Segoe UI"/>
                <a:ea typeface="Segoe UI"/>
                <a:cs typeface="Segoe UI"/>
              </a:defRPr>
            </a:pPr>
            <a:r>
              <a:rPr sz="3600" b="1">
                <a:solidFill>
                  <a:srgbClr val="102A43"/>
                </a:solidFill>
                <a:latin typeface="Segoe UI"/>
                <a:ea typeface="Segoe UI"/>
                <a:cs typeface="Segoe UI"/>
              </a:rPr>
              <a:t>Trade-offs and human control</a:t>
            </a:r>
          </a:p>
        </p:txBody>
      </p:sp>
      <p:sp>
        <p:nvSpPr>
          <p:cNvPr id="3" name="">
            <a:extLst xmlns:a="http://schemas.openxmlformats.org/drawingml/2006/main">
              <a:ext uri="{FF2B5EF4-FFF2-40B4-BE49-F238E27FC236}">
                <a16:creationId xmlns:a16="http://schemas.microsoft.com/office/drawing/2014/main" id="{437E13B1-2248-45C3-96FB-4AA0236CD008}"/>
              </a:ext>
            </a:extLst>
          </p:cNvPr>
          <p:cNvSpPr>
            <a:spLocks xmlns:a="http://schemas.openxmlformats.org/drawingml/2006/main" noGrp="1"/>
          </p:cNvSpPr>
          <p:nvPr/>
        </p:nvSpPr>
        <p:spPr>
          <a:xfrm xmlns:a="http://schemas.openxmlformats.org/drawingml/2006/main">
            <a:off x="609600" y="990600"/>
            <a:ext cx="10668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0">
                <a:solidFill>
                  <a:srgbClr val="52606D"/>
                </a:solidFill>
                <a:latin typeface="Segoe UI"/>
                <a:ea typeface="Segoe UI"/>
                <a:cs typeface="Segoe UI"/>
              </a:defRPr>
            </a:pPr>
            <a:r>
              <a:rPr sz="1725" b="0">
                <a:solidFill>
                  <a:srgbClr val="52606D"/>
                </a:solidFill>
                <a:latin typeface="Segoe UI"/>
                <a:ea typeface="Segoe UI"/>
                <a:cs typeface="Segoe UI"/>
              </a:rPr>
              <a:t>The system prepares a decision; the investigator validates the evidence and owns the outcome</a:t>
            </a:r>
          </a:p>
        </p:txBody>
      </p:sp>
      <p:sp>
        <p:nvSpPr>
          <p:cNvPr id="4" name="">
            <a:extLst xmlns:a="http://schemas.openxmlformats.org/drawingml/2006/main">
              <a:ext uri="{FF2B5EF4-FFF2-40B4-BE49-F238E27FC236}">
                <a16:creationId xmlns:a16="http://schemas.microsoft.com/office/drawing/2014/main" id="{E27B0A83-17CA-4A45-BFA2-22063A540FA5}"/>
              </a:ext>
            </a:extLst>
          </p:cNvPr>
          <p:cNvSpPr>
            <a:spLocks xmlns:a="http://schemas.openxmlformats.org/drawingml/2006/main" noGrp="1"/>
          </p:cNvSpPr>
          <p:nvPr/>
        </p:nvSpPr>
        <p:spPr>
          <a:xfrm xmlns:a="http://schemas.openxmlformats.org/drawingml/2006/main">
            <a:off x="609600" y="1438275"/>
            <a:ext cx="1097280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5" name="">
            <a:extLst xmlns:a="http://schemas.openxmlformats.org/drawingml/2006/main">
              <a:ext uri="{FF2B5EF4-FFF2-40B4-BE49-F238E27FC236}">
                <a16:creationId xmlns:a16="http://schemas.microsoft.com/office/drawing/2014/main" id="{01FAE598-9069-46DD-95DC-875E711FEEF6}"/>
              </a:ext>
            </a:extLst>
          </p:cNvPr>
          <p:cNvSpPr>
            <a:spLocks xmlns:a="http://schemas.openxmlformats.org/drawingml/2006/main" noGrp="1"/>
          </p:cNvSpPr>
          <p:nvPr/>
        </p:nvSpPr>
        <p:spPr>
          <a:xfrm xmlns:a="http://schemas.openxmlformats.org/drawingml/2006/main">
            <a:off x="11182350" y="6438900"/>
            <a:ext cx="4000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r">
              <a:lnSpc>
                <a:spcPct val="105000"/>
              </a:lnSpc>
              <a:buNone/>
              <a:defRPr sz="1200" b="1">
                <a:solidFill>
                  <a:srgbClr val="829AB1"/>
                </a:solidFill>
                <a:latin typeface="Segoe UI"/>
                <a:ea typeface="Segoe UI"/>
                <a:cs typeface="Segoe UI"/>
              </a:defRPr>
            </a:pPr>
            <a:r>
              <a:rPr sz="1200" b="1">
                <a:solidFill>
                  <a:srgbClr val="829AB1"/>
                </a:solidFill>
                <a:latin typeface="Segoe UI"/>
                <a:ea typeface="Segoe UI"/>
                <a:cs typeface="Segoe UI"/>
              </a:rPr>
              <a:t>03</a:t>
            </a:r>
          </a:p>
        </p:txBody>
      </p:sp>
      <p:sp>
        <p:nvSpPr>
          <p:cNvPr id="6" name="">
            <a:extLst xmlns:a="http://schemas.openxmlformats.org/drawingml/2006/main">
              <a:ext uri="{FF2B5EF4-FFF2-40B4-BE49-F238E27FC236}">
                <a16:creationId xmlns:a16="http://schemas.microsoft.com/office/drawing/2014/main" id="{6E8531EE-F4EF-4998-9D81-8D0949DD8FF1}"/>
              </a:ext>
            </a:extLst>
          </p:cNvPr>
          <p:cNvSpPr>
            <a:spLocks xmlns:a="http://schemas.openxmlformats.org/drawingml/2006/main" noGrp="1"/>
          </p:cNvSpPr>
          <p:nvPr/>
        </p:nvSpPr>
        <p:spPr>
          <a:xfrm xmlns:a="http://schemas.openxmlformats.org/drawingml/2006/main">
            <a:off x="609600" y="1685925"/>
            <a:ext cx="5143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HOW A HUMAN STAYS IN THE LOOP</a:t>
            </a:r>
          </a:p>
        </p:txBody>
      </p:sp>
      <p:sp>
        <p:nvSpPr>
          <p:cNvPr id="7" name="">
            <a:extLst xmlns:a="http://schemas.openxmlformats.org/drawingml/2006/main">
              <a:ext uri="{FF2B5EF4-FFF2-40B4-BE49-F238E27FC236}">
                <a16:creationId xmlns:a16="http://schemas.microsoft.com/office/drawing/2014/main" id="{E862F2E7-7F81-4EAE-A3B1-7A7231DF99D8}"/>
              </a:ext>
            </a:extLst>
          </p:cNvPr>
          <p:cNvSpPr>
            <a:spLocks xmlns:a="http://schemas.openxmlformats.org/drawingml/2006/main" noGrp="1"/>
          </p:cNvSpPr>
          <p:nvPr/>
        </p:nvSpPr>
        <p:spPr>
          <a:xfrm xmlns:a="http://schemas.openxmlformats.org/drawingml/2006/main">
            <a:off x="609600" y="20669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1</a:t>
            </a:r>
          </a:p>
        </p:txBody>
      </p:sp>
      <p:sp>
        <p:nvSpPr>
          <p:cNvPr id="8" name="">
            <a:extLst xmlns:a="http://schemas.openxmlformats.org/drawingml/2006/main">
              <a:ext uri="{FF2B5EF4-FFF2-40B4-BE49-F238E27FC236}">
                <a16:creationId xmlns:a16="http://schemas.microsoft.com/office/drawing/2014/main" id="{7DABBBD8-4A91-4807-BD2A-933A028A86BD}"/>
              </a:ext>
            </a:extLst>
          </p:cNvPr>
          <p:cNvSpPr>
            <a:spLocks xmlns:a="http://schemas.openxmlformats.org/drawingml/2006/main" noGrp="1"/>
          </p:cNvSpPr>
          <p:nvPr/>
        </p:nvSpPr>
        <p:spPr>
          <a:xfrm xmlns:a="http://schemas.openxmlformats.org/drawingml/2006/main">
            <a:off x="990600" y="2057400"/>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Trust</a:t>
            </a:r>
          </a:p>
        </p:txBody>
      </p:sp>
      <p:sp>
        <p:nvSpPr>
          <p:cNvPr id="9" name="">
            <a:extLst xmlns:a="http://schemas.openxmlformats.org/drawingml/2006/main">
              <a:ext uri="{FF2B5EF4-FFF2-40B4-BE49-F238E27FC236}">
                <a16:creationId xmlns:a16="http://schemas.microsoft.com/office/drawing/2014/main" id="{A415C9E1-B1C7-46B3-BD20-B5B3594446EB}"/>
              </a:ext>
            </a:extLst>
          </p:cNvPr>
          <p:cNvSpPr>
            <a:spLocks xmlns:a="http://schemas.openxmlformats.org/drawingml/2006/main" noGrp="1"/>
          </p:cNvSpPr>
          <p:nvPr/>
        </p:nvSpPr>
        <p:spPr>
          <a:xfrm xmlns:a="http://schemas.openxmlformats.org/drawingml/2006/main">
            <a:off x="990600" y="2352675"/>
            <a:ext cx="4838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Every finding shows the raw value, comparison range, and triggered rule.</a:t>
            </a:r>
          </a:p>
        </p:txBody>
      </p:sp>
      <p:sp>
        <p:nvSpPr>
          <p:cNvPr id="10" name="">
            <a:extLst xmlns:a="http://schemas.openxmlformats.org/drawingml/2006/main">
              <a:ext uri="{FF2B5EF4-FFF2-40B4-BE49-F238E27FC236}">
                <a16:creationId xmlns:a16="http://schemas.microsoft.com/office/drawing/2014/main" id="{92CC5F8F-A84D-49CD-847E-02B703C8C368}"/>
              </a:ext>
            </a:extLst>
          </p:cNvPr>
          <p:cNvSpPr>
            <a:spLocks xmlns:a="http://schemas.openxmlformats.org/drawingml/2006/main" noGrp="1"/>
          </p:cNvSpPr>
          <p:nvPr/>
        </p:nvSpPr>
        <p:spPr>
          <a:xfrm xmlns:a="http://schemas.openxmlformats.org/drawingml/2006/main">
            <a:off x="609600" y="29241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2</a:t>
            </a:r>
          </a:p>
        </p:txBody>
      </p:sp>
      <p:sp>
        <p:nvSpPr>
          <p:cNvPr id="11" name="">
            <a:extLst xmlns:a="http://schemas.openxmlformats.org/drawingml/2006/main">
              <a:ext uri="{FF2B5EF4-FFF2-40B4-BE49-F238E27FC236}">
                <a16:creationId xmlns:a16="http://schemas.microsoft.com/office/drawing/2014/main" id="{58A40DFE-541A-480D-ACCB-E4DC10B4C531}"/>
              </a:ext>
            </a:extLst>
          </p:cNvPr>
          <p:cNvSpPr>
            <a:spLocks xmlns:a="http://schemas.openxmlformats.org/drawingml/2006/main" noGrp="1"/>
          </p:cNvSpPr>
          <p:nvPr/>
        </p:nvSpPr>
        <p:spPr>
          <a:xfrm xmlns:a="http://schemas.openxmlformats.org/drawingml/2006/main">
            <a:off x="990600" y="2914650"/>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Validate</a:t>
            </a:r>
          </a:p>
        </p:txBody>
      </p:sp>
      <p:sp>
        <p:nvSpPr>
          <p:cNvPr id="12" name="">
            <a:extLst xmlns:a="http://schemas.openxmlformats.org/drawingml/2006/main">
              <a:ext uri="{FF2B5EF4-FFF2-40B4-BE49-F238E27FC236}">
                <a16:creationId xmlns:a16="http://schemas.microsoft.com/office/drawing/2014/main" id="{F50A7B80-C85A-4574-B559-960EF4C44E84}"/>
              </a:ext>
            </a:extLst>
          </p:cNvPr>
          <p:cNvSpPr>
            <a:spLocks xmlns:a="http://schemas.openxmlformats.org/drawingml/2006/main" noGrp="1"/>
          </p:cNvSpPr>
          <p:nvPr/>
        </p:nvSpPr>
        <p:spPr>
          <a:xfrm xmlns:a="http://schemas.openxmlformats.org/drawingml/2006/main">
            <a:off x="990600" y="3209925"/>
            <a:ext cx="4838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The investigator marks each finding agree, disagree, or not sure and can ask case-specific questions.</a:t>
            </a:r>
          </a:p>
        </p:txBody>
      </p:sp>
      <p:sp>
        <p:nvSpPr>
          <p:cNvPr id="13" name="">
            <a:extLst xmlns:a="http://schemas.openxmlformats.org/drawingml/2006/main">
              <a:ext uri="{FF2B5EF4-FFF2-40B4-BE49-F238E27FC236}">
                <a16:creationId xmlns:a16="http://schemas.microsoft.com/office/drawing/2014/main" id="{FC00645F-41B2-4231-BF1C-4F84E97CF197}"/>
              </a:ext>
            </a:extLst>
          </p:cNvPr>
          <p:cNvSpPr>
            <a:spLocks xmlns:a="http://schemas.openxmlformats.org/drawingml/2006/main" noGrp="1"/>
          </p:cNvSpPr>
          <p:nvPr/>
        </p:nvSpPr>
        <p:spPr>
          <a:xfrm xmlns:a="http://schemas.openxmlformats.org/drawingml/2006/main">
            <a:off x="609600" y="378142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3</a:t>
            </a:r>
          </a:p>
        </p:txBody>
      </p:sp>
      <p:sp>
        <p:nvSpPr>
          <p:cNvPr id="14" name="">
            <a:extLst xmlns:a="http://schemas.openxmlformats.org/drawingml/2006/main">
              <a:ext uri="{FF2B5EF4-FFF2-40B4-BE49-F238E27FC236}">
                <a16:creationId xmlns:a16="http://schemas.microsoft.com/office/drawing/2014/main" id="{605858CF-8C82-4112-A74B-7940E58B864C}"/>
              </a:ext>
            </a:extLst>
          </p:cNvPr>
          <p:cNvSpPr>
            <a:spLocks xmlns:a="http://schemas.openxmlformats.org/drawingml/2006/main" noGrp="1"/>
          </p:cNvSpPr>
          <p:nvPr/>
        </p:nvSpPr>
        <p:spPr>
          <a:xfrm xmlns:a="http://schemas.openxmlformats.org/drawingml/2006/main">
            <a:off x="990600" y="3771900"/>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Override</a:t>
            </a:r>
          </a:p>
        </p:txBody>
      </p:sp>
      <p:sp>
        <p:nvSpPr>
          <p:cNvPr id="15" name="">
            <a:extLst xmlns:a="http://schemas.openxmlformats.org/drawingml/2006/main">
              <a:ext uri="{FF2B5EF4-FFF2-40B4-BE49-F238E27FC236}">
                <a16:creationId xmlns:a16="http://schemas.microsoft.com/office/drawing/2014/main" id="{482C9150-3852-4EBF-802D-537EA2A3D284}"/>
              </a:ext>
            </a:extLst>
          </p:cNvPr>
          <p:cNvSpPr>
            <a:spLocks xmlns:a="http://schemas.openxmlformats.org/drawingml/2006/main" noGrp="1"/>
          </p:cNvSpPr>
          <p:nvPr/>
        </p:nvSpPr>
        <p:spPr>
          <a:xfrm xmlns:a="http://schemas.openxmlformats.org/drawingml/2006/main">
            <a:off x="990600" y="4067175"/>
            <a:ext cx="4838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A recommendation never takes action. A different decision requires a written reason.</a:t>
            </a:r>
          </a:p>
        </p:txBody>
      </p:sp>
      <p:sp>
        <p:nvSpPr>
          <p:cNvPr id="16" name="">
            <a:extLst xmlns:a="http://schemas.openxmlformats.org/drawingml/2006/main">
              <a:ext uri="{FF2B5EF4-FFF2-40B4-BE49-F238E27FC236}">
                <a16:creationId xmlns:a16="http://schemas.microsoft.com/office/drawing/2014/main" id="{15318227-9BF0-44F5-B89C-63148D85C790}"/>
              </a:ext>
            </a:extLst>
          </p:cNvPr>
          <p:cNvSpPr>
            <a:spLocks xmlns:a="http://schemas.openxmlformats.org/drawingml/2006/main" noGrp="1"/>
          </p:cNvSpPr>
          <p:nvPr/>
        </p:nvSpPr>
        <p:spPr>
          <a:xfrm xmlns:a="http://schemas.openxmlformats.org/drawingml/2006/main">
            <a:off x="609600" y="4638675"/>
            <a:ext cx="285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0F766E"/>
                </a:solidFill>
                <a:latin typeface="Segoe UI"/>
                <a:ea typeface="Segoe UI"/>
                <a:cs typeface="Segoe UI"/>
              </a:defRPr>
            </a:pPr>
            <a:r>
              <a:rPr sz="1350" b="1">
                <a:solidFill>
                  <a:srgbClr val="0F766E"/>
                </a:solidFill>
                <a:latin typeface="Segoe UI"/>
                <a:ea typeface="Segoe UI"/>
                <a:cs typeface="Segoe UI"/>
              </a:rPr>
              <a:t>4</a:t>
            </a:r>
          </a:p>
        </p:txBody>
      </p:sp>
      <p:sp>
        <p:nvSpPr>
          <p:cNvPr id="17" name="">
            <a:extLst xmlns:a="http://schemas.openxmlformats.org/drawingml/2006/main">
              <a:ext uri="{FF2B5EF4-FFF2-40B4-BE49-F238E27FC236}">
                <a16:creationId xmlns:a16="http://schemas.microsoft.com/office/drawing/2014/main" id="{BF033677-2188-4249-B59D-1784C80D0018}"/>
              </a:ext>
            </a:extLst>
          </p:cNvPr>
          <p:cNvSpPr>
            <a:spLocks xmlns:a="http://schemas.openxmlformats.org/drawingml/2006/main" noGrp="1"/>
          </p:cNvSpPr>
          <p:nvPr/>
        </p:nvSpPr>
        <p:spPr>
          <a:xfrm xmlns:a="http://schemas.openxmlformats.org/drawingml/2006/main">
            <a:off x="990600" y="4629150"/>
            <a:ext cx="4838700" cy="2762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725" b="1">
                <a:solidFill>
                  <a:srgbClr val="102A43"/>
                </a:solidFill>
                <a:latin typeface="Segoe UI"/>
                <a:ea typeface="Segoe UI"/>
                <a:cs typeface="Segoe UI"/>
              </a:defRPr>
            </a:pPr>
            <a:r>
              <a:rPr sz="1725" b="1">
                <a:solidFill>
                  <a:srgbClr val="102A43"/>
                </a:solidFill>
                <a:latin typeface="Segoe UI"/>
                <a:ea typeface="Segoe UI"/>
                <a:cs typeface="Segoe UI"/>
              </a:rPr>
              <a:t>Audit</a:t>
            </a:r>
          </a:p>
        </p:txBody>
      </p:sp>
      <p:sp>
        <p:nvSpPr>
          <p:cNvPr id="18" name="">
            <a:extLst xmlns:a="http://schemas.openxmlformats.org/drawingml/2006/main">
              <a:ext uri="{FF2B5EF4-FFF2-40B4-BE49-F238E27FC236}">
                <a16:creationId xmlns:a16="http://schemas.microsoft.com/office/drawing/2014/main" id="{A311D53B-916B-4A22-A6CF-ACFFF58356F1}"/>
              </a:ext>
            </a:extLst>
          </p:cNvPr>
          <p:cNvSpPr>
            <a:spLocks xmlns:a="http://schemas.openxmlformats.org/drawingml/2006/main" noGrp="1"/>
          </p:cNvSpPr>
          <p:nvPr/>
        </p:nvSpPr>
        <p:spPr>
          <a:xfrm xmlns:a="http://schemas.openxmlformats.org/drawingml/2006/main">
            <a:off x="990600" y="4924425"/>
            <a:ext cx="48387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6000"/>
              </a:lnSpc>
              <a:buNone/>
              <a:defRPr sz="1425" b="0">
                <a:solidFill>
                  <a:srgbClr val="52606D"/>
                </a:solidFill>
                <a:latin typeface="Segoe UI"/>
                <a:ea typeface="Segoe UI"/>
                <a:cs typeface="Segoe UI"/>
              </a:defRPr>
            </a:pPr>
            <a:r>
              <a:rPr sz="1425" b="0">
                <a:solidFill>
                  <a:srgbClr val="52606D"/>
                </a:solidFill>
                <a:latin typeface="Segoe UI"/>
                <a:ea typeface="Segoe UI"/>
                <a:cs typeface="Segoe UI"/>
              </a:rPr>
              <a:t>Targeted and random cases must be reviewed before bulk close. The log keeps the model, prompt, text, and fact fingerprint.</a:t>
            </a:r>
          </a:p>
        </p:txBody>
      </p:sp>
      <p:sp>
        <p:nvSpPr>
          <p:cNvPr id="19" name="">
            <a:extLst xmlns:a="http://schemas.openxmlformats.org/drawingml/2006/main">
              <a:ext uri="{FF2B5EF4-FFF2-40B4-BE49-F238E27FC236}">
                <a16:creationId xmlns:a16="http://schemas.microsoft.com/office/drawing/2014/main" id="{72A9B56A-B461-4908-8FCD-60C7E6F0A13D}"/>
              </a:ext>
            </a:extLst>
          </p:cNvPr>
          <p:cNvSpPr>
            <a:spLocks xmlns:a="http://schemas.openxmlformats.org/drawingml/2006/main" noGrp="1"/>
          </p:cNvSpPr>
          <p:nvPr/>
        </p:nvSpPr>
        <p:spPr>
          <a:xfrm xmlns:a="http://schemas.openxmlformats.org/drawingml/2006/main">
            <a:off x="6115050" y="1685925"/>
            <a:ext cx="9525"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0" name="">
            <a:extLst xmlns:a="http://schemas.openxmlformats.org/drawingml/2006/main">
              <a:ext uri="{FF2B5EF4-FFF2-40B4-BE49-F238E27FC236}">
                <a16:creationId xmlns:a16="http://schemas.microsoft.com/office/drawing/2014/main" id="{2CFDCE96-0F2B-4DC4-A747-235CDDE8A8EF}"/>
              </a:ext>
            </a:extLst>
          </p:cNvPr>
          <p:cNvSpPr>
            <a:spLocks xmlns:a="http://schemas.openxmlformats.org/drawingml/2006/main" noGrp="1"/>
          </p:cNvSpPr>
          <p:nvPr/>
        </p:nvSpPr>
        <p:spPr>
          <a:xfrm xmlns:a="http://schemas.openxmlformats.org/drawingml/2006/main">
            <a:off x="6496050" y="1685925"/>
            <a:ext cx="50863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275" b="1">
                <a:solidFill>
                  <a:srgbClr val="0F766E"/>
                </a:solidFill>
                <a:latin typeface="Segoe UI"/>
                <a:ea typeface="Segoe UI"/>
                <a:cs typeface="Segoe UI"/>
              </a:defRPr>
            </a:pPr>
            <a:r>
              <a:rPr sz="1275" b="1">
                <a:solidFill>
                  <a:srgbClr val="0F766E"/>
                </a:solidFill>
                <a:latin typeface="Segoe UI"/>
                <a:ea typeface="Segoe UI"/>
                <a:cs typeface="Segoe UI"/>
              </a:rPr>
              <a:t>TRADE-OFFS AND NEXT TESTS</a:t>
            </a:r>
          </a:p>
        </p:txBody>
      </p:sp>
      <p:sp>
        <p:nvSpPr>
          <p:cNvPr id="21" name="">
            <a:extLst xmlns:a="http://schemas.openxmlformats.org/drawingml/2006/main">
              <a:ext uri="{FF2B5EF4-FFF2-40B4-BE49-F238E27FC236}">
                <a16:creationId xmlns:a16="http://schemas.microsoft.com/office/drawing/2014/main" id="{D2D6AD51-23C2-4061-AB6D-E9E48C10F809}"/>
              </a:ext>
            </a:extLst>
          </p:cNvPr>
          <p:cNvSpPr>
            <a:spLocks xmlns:a="http://schemas.openxmlformats.org/drawingml/2006/main" noGrp="1"/>
          </p:cNvSpPr>
          <p:nvPr/>
        </p:nvSpPr>
        <p:spPr>
          <a:xfrm xmlns:a="http://schemas.openxmlformats.org/drawingml/2006/main">
            <a:off x="6496050" y="2057400"/>
            <a:ext cx="158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650" b="1">
                <a:solidFill>
                  <a:srgbClr val="B42318"/>
                </a:solidFill>
                <a:latin typeface="Segoe UI"/>
                <a:ea typeface="Segoe UI"/>
                <a:cs typeface="Segoe UI"/>
              </a:defRPr>
            </a:pPr>
            <a:r>
              <a:rPr sz="1650" b="1">
                <a:solidFill>
                  <a:srgbClr val="B42318"/>
                </a:solidFill>
                <a:latin typeface="Segoe UI"/>
                <a:ea typeface="Segoe UI"/>
                <a:cs typeface="Segoe UI"/>
              </a:rPr>
              <a:t>Accuracy</a:t>
            </a:r>
          </a:p>
        </p:txBody>
      </p:sp>
      <p:sp>
        <p:nvSpPr>
          <p:cNvPr id="22" name="">
            <a:extLst xmlns:a="http://schemas.openxmlformats.org/drawingml/2006/main">
              <a:ext uri="{FF2B5EF4-FFF2-40B4-BE49-F238E27FC236}">
                <a16:creationId xmlns:a16="http://schemas.microsoft.com/office/drawing/2014/main" id="{444EFE9F-4B69-4F62-AAAB-E993F486C5A3}"/>
              </a:ext>
            </a:extLst>
          </p:cNvPr>
          <p:cNvSpPr>
            <a:spLocks xmlns:a="http://schemas.openxmlformats.org/drawingml/2006/main" noGrp="1"/>
          </p:cNvSpPr>
          <p:nvPr/>
        </p:nvSpPr>
        <p:spPr>
          <a:xfrm xmlns:a="http://schemas.openxmlformats.org/drawingml/2006/main">
            <a:off x="8172450" y="2057400"/>
            <a:ext cx="34099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425" b="0">
                <a:solidFill>
                  <a:srgbClr val="102A43"/>
                </a:solidFill>
                <a:latin typeface="Segoe UI"/>
                <a:ea typeface="Segoe UI"/>
                <a:cs typeface="Segoe UI"/>
              </a:defRPr>
            </a:pPr>
            <a:r>
              <a:rPr sz="1425" b="0">
                <a:solidFill>
                  <a:srgbClr val="102A43"/>
                </a:solidFill>
                <a:latin typeface="Segoe UI"/>
                <a:ea typeface="Segoe UI"/>
                <a:cs typeface="Segoe UI"/>
              </a:rPr>
              <a:t>No labels: no fraud probability or accuracy claim.</a:t>
            </a:r>
          </a:p>
        </p:txBody>
      </p:sp>
      <p:sp>
        <p:nvSpPr>
          <p:cNvPr id="23" name="">
            <a:extLst xmlns:a="http://schemas.openxmlformats.org/drawingml/2006/main">
              <a:ext uri="{FF2B5EF4-FFF2-40B4-BE49-F238E27FC236}">
                <a16:creationId xmlns:a16="http://schemas.microsoft.com/office/drawing/2014/main" id="{7568F6D2-6F1C-4754-B49A-7A465EF1B1D4}"/>
              </a:ext>
            </a:extLst>
          </p:cNvPr>
          <p:cNvSpPr>
            <a:spLocks xmlns:a="http://schemas.openxmlformats.org/drawingml/2006/main" noGrp="1"/>
          </p:cNvSpPr>
          <p:nvPr/>
        </p:nvSpPr>
        <p:spPr>
          <a:xfrm xmlns:a="http://schemas.openxmlformats.org/drawingml/2006/main">
            <a:off x="8172450" y="2457450"/>
            <a:ext cx="3409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52606D"/>
                </a:solidFill>
                <a:latin typeface="Segoe UI"/>
                <a:ea typeface="Segoe UI"/>
                <a:cs typeface="Segoe UI"/>
              </a:defRPr>
            </a:pPr>
            <a:r>
              <a:rPr sz="1350" b="1">
                <a:solidFill>
                  <a:srgbClr val="52606D"/>
                </a:solidFill>
                <a:latin typeface="Segoe UI"/>
                <a:ea typeface="Segoe UI"/>
                <a:cs typeface="Segoe UI"/>
              </a:rPr>
              <a:t>Next: collect outcomes and calibrate.</a:t>
            </a:r>
          </a:p>
        </p:txBody>
      </p:sp>
      <p:sp>
        <p:nvSpPr>
          <p:cNvPr id="24" name="">
            <a:extLst xmlns:a="http://schemas.openxmlformats.org/drawingml/2006/main">
              <a:ext uri="{FF2B5EF4-FFF2-40B4-BE49-F238E27FC236}">
                <a16:creationId xmlns:a16="http://schemas.microsoft.com/office/drawing/2014/main" id="{132D8184-F9C1-4982-B237-101AB8BE5D90}"/>
              </a:ext>
            </a:extLst>
          </p:cNvPr>
          <p:cNvSpPr>
            <a:spLocks xmlns:a="http://schemas.openxmlformats.org/drawingml/2006/main" noGrp="1"/>
          </p:cNvSpPr>
          <p:nvPr/>
        </p:nvSpPr>
        <p:spPr>
          <a:xfrm xmlns:a="http://schemas.openxmlformats.org/drawingml/2006/main">
            <a:off x="6496050" y="2809875"/>
            <a:ext cx="508635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5" name="">
            <a:extLst xmlns:a="http://schemas.openxmlformats.org/drawingml/2006/main">
              <a:ext uri="{FF2B5EF4-FFF2-40B4-BE49-F238E27FC236}">
                <a16:creationId xmlns:a16="http://schemas.microsoft.com/office/drawing/2014/main" id="{6AABA57C-D9FB-44C9-B11F-88EF9B69440B}"/>
              </a:ext>
            </a:extLst>
          </p:cNvPr>
          <p:cNvSpPr>
            <a:spLocks xmlns:a="http://schemas.openxmlformats.org/drawingml/2006/main" noGrp="1"/>
          </p:cNvSpPr>
          <p:nvPr/>
        </p:nvSpPr>
        <p:spPr>
          <a:xfrm xmlns:a="http://schemas.openxmlformats.org/drawingml/2006/main">
            <a:off x="6496050" y="2933700"/>
            <a:ext cx="158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650" b="1">
                <a:solidFill>
                  <a:srgbClr val="B45309"/>
                </a:solidFill>
                <a:latin typeface="Segoe UI"/>
                <a:ea typeface="Segoe UI"/>
                <a:cs typeface="Segoe UI"/>
              </a:defRPr>
            </a:pPr>
            <a:r>
              <a:rPr sz="1650" b="1">
                <a:solidFill>
                  <a:srgbClr val="B45309"/>
                </a:solidFill>
                <a:latin typeface="Segoe UI"/>
                <a:ea typeface="Segoe UI"/>
                <a:cs typeface="Segoe UI"/>
              </a:rPr>
              <a:t>Trust</a:t>
            </a:r>
          </a:p>
        </p:txBody>
      </p:sp>
      <p:sp>
        <p:nvSpPr>
          <p:cNvPr id="26" name="">
            <a:extLst xmlns:a="http://schemas.openxmlformats.org/drawingml/2006/main">
              <a:ext uri="{FF2B5EF4-FFF2-40B4-BE49-F238E27FC236}">
                <a16:creationId xmlns:a16="http://schemas.microsoft.com/office/drawing/2014/main" id="{9244D279-D0A3-4C3A-8F5B-661BFF0FFA18}"/>
              </a:ext>
            </a:extLst>
          </p:cNvPr>
          <p:cNvSpPr>
            <a:spLocks xmlns:a="http://schemas.openxmlformats.org/drawingml/2006/main" noGrp="1"/>
          </p:cNvSpPr>
          <p:nvPr/>
        </p:nvSpPr>
        <p:spPr>
          <a:xfrm xmlns:a="http://schemas.openxmlformats.org/drawingml/2006/main">
            <a:off x="8172450" y="2933700"/>
            <a:ext cx="34099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425" b="0">
                <a:solidFill>
                  <a:srgbClr val="102A43"/>
                </a:solidFill>
                <a:latin typeface="Segoe UI"/>
                <a:ea typeface="Segoe UI"/>
                <a:cs typeface="Segoe UI"/>
              </a:defRPr>
            </a:pPr>
            <a:r>
              <a:rPr sz="1425" b="0">
                <a:solidFill>
                  <a:srgbClr val="102A43"/>
                </a:solidFill>
                <a:latin typeface="Segoe UI"/>
                <a:ea typeface="Segoe UI"/>
                <a:cs typeface="Segoe UI"/>
              </a:rPr>
              <a:t>Checked evidence and a rule fallback.</a:t>
            </a:r>
          </a:p>
        </p:txBody>
      </p:sp>
      <p:sp>
        <p:nvSpPr>
          <p:cNvPr id="27" name="">
            <a:extLst xmlns:a="http://schemas.openxmlformats.org/drawingml/2006/main">
              <a:ext uri="{FF2B5EF4-FFF2-40B4-BE49-F238E27FC236}">
                <a16:creationId xmlns:a16="http://schemas.microsoft.com/office/drawing/2014/main" id="{BF54DF4E-7647-4CD7-8F55-D2106CA0DEDE}"/>
              </a:ext>
            </a:extLst>
          </p:cNvPr>
          <p:cNvSpPr>
            <a:spLocks xmlns:a="http://schemas.openxmlformats.org/drawingml/2006/main" noGrp="1"/>
          </p:cNvSpPr>
          <p:nvPr/>
        </p:nvSpPr>
        <p:spPr>
          <a:xfrm xmlns:a="http://schemas.openxmlformats.org/drawingml/2006/main">
            <a:off x="8172450" y="3333750"/>
            <a:ext cx="3409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52606D"/>
                </a:solidFill>
                <a:latin typeface="Segoe UI"/>
                <a:ea typeface="Segoe UI"/>
                <a:cs typeface="Segoe UI"/>
              </a:defRPr>
            </a:pPr>
            <a:r>
              <a:rPr sz="1350" b="1">
                <a:solidFill>
                  <a:srgbClr val="52606D"/>
                </a:solidFill>
                <a:latin typeface="Segoe UI"/>
                <a:ea typeface="Segoe UI"/>
                <a:cs typeface="Segoe UI"/>
              </a:rPr>
              <a:t>Next: blinded investigator study.</a:t>
            </a:r>
          </a:p>
        </p:txBody>
      </p:sp>
      <p:sp>
        <p:nvSpPr>
          <p:cNvPr id="28" name="">
            <a:extLst xmlns:a="http://schemas.openxmlformats.org/drawingml/2006/main">
              <a:ext uri="{FF2B5EF4-FFF2-40B4-BE49-F238E27FC236}">
                <a16:creationId xmlns:a16="http://schemas.microsoft.com/office/drawing/2014/main" id="{1E386A13-6762-4C58-ABAE-DE6D0147C351}"/>
              </a:ext>
            </a:extLst>
          </p:cNvPr>
          <p:cNvSpPr>
            <a:spLocks xmlns:a="http://schemas.openxmlformats.org/drawingml/2006/main" noGrp="1"/>
          </p:cNvSpPr>
          <p:nvPr/>
        </p:nvSpPr>
        <p:spPr>
          <a:xfrm xmlns:a="http://schemas.openxmlformats.org/drawingml/2006/main">
            <a:off x="6496050" y="3686175"/>
            <a:ext cx="508635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29" name="">
            <a:extLst xmlns:a="http://schemas.openxmlformats.org/drawingml/2006/main">
              <a:ext uri="{FF2B5EF4-FFF2-40B4-BE49-F238E27FC236}">
                <a16:creationId xmlns:a16="http://schemas.microsoft.com/office/drawing/2014/main" id="{05B0B47F-87E1-42EB-9C6C-65879F16247B}"/>
              </a:ext>
            </a:extLst>
          </p:cNvPr>
          <p:cNvSpPr>
            <a:spLocks xmlns:a="http://schemas.openxmlformats.org/drawingml/2006/main" noGrp="1"/>
          </p:cNvSpPr>
          <p:nvPr/>
        </p:nvSpPr>
        <p:spPr>
          <a:xfrm xmlns:a="http://schemas.openxmlformats.org/drawingml/2006/main">
            <a:off x="6496050" y="3810000"/>
            <a:ext cx="158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650" b="1">
                <a:solidFill>
                  <a:srgbClr val="0F766E"/>
                </a:solidFill>
                <a:latin typeface="Segoe UI"/>
                <a:ea typeface="Segoe UI"/>
                <a:cs typeface="Segoe UI"/>
              </a:defRPr>
            </a:pPr>
            <a:r>
              <a:rPr sz="1650" b="1">
                <a:solidFill>
                  <a:srgbClr val="0F766E"/>
                </a:solidFill>
                <a:latin typeface="Segoe UI"/>
                <a:ea typeface="Segoe UI"/>
                <a:cs typeface="Segoe UI"/>
              </a:rPr>
              <a:t>Cost and latency</a:t>
            </a:r>
          </a:p>
        </p:txBody>
      </p:sp>
      <p:sp>
        <p:nvSpPr>
          <p:cNvPr id="30" name="">
            <a:extLst xmlns:a="http://schemas.openxmlformats.org/drawingml/2006/main">
              <a:ext uri="{FF2B5EF4-FFF2-40B4-BE49-F238E27FC236}">
                <a16:creationId xmlns:a16="http://schemas.microsoft.com/office/drawing/2014/main" id="{F5F7B6AE-7FE3-4701-ABE6-95B973AC14DF}"/>
              </a:ext>
            </a:extLst>
          </p:cNvPr>
          <p:cNvSpPr>
            <a:spLocks xmlns:a="http://schemas.openxmlformats.org/drawingml/2006/main" noGrp="1"/>
          </p:cNvSpPr>
          <p:nvPr/>
        </p:nvSpPr>
        <p:spPr>
          <a:xfrm xmlns:a="http://schemas.openxmlformats.org/drawingml/2006/main">
            <a:off x="8172450" y="3810000"/>
            <a:ext cx="34099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425" b="0">
                <a:solidFill>
                  <a:srgbClr val="102A43"/>
                </a:solidFill>
                <a:latin typeface="Segoe UI"/>
                <a:ea typeface="Segoe UI"/>
                <a:cs typeface="Segoe UI"/>
              </a:defRPr>
            </a:pPr>
            <a:r>
              <a:rPr sz="1425" b="0">
                <a:solidFill>
                  <a:srgbClr val="102A43"/>
                </a:solidFill>
                <a:latin typeface="Segoe UI"/>
                <a:ea typeface="Segoe UI"/>
                <a:cs typeface="Segoe UI"/>
              </a:rPr>
              <a:t>Briefs run before the shift and are cached.</a:t>
            </a:r>
          </a:p>
        </p:txBody>
      </p:sp>
      <p:sp>
        <p:nvSpPr>
          <p:cNvPr id="31" name="">
            <a:extLst xmlns:a="http://schemas.openxmlformats.org/drawingml/2006/main">
              <a:ext uri="{FF2B5EF4-FFF2-40B4-BE49-F238E27FC236}">
                <a16:creationId xmlns:a16="http://schemas.microsoft.com/office/drawing/2014/main" id="{C7713556-C414-479A-AD17-5E8CD8EB10C7}"/>
              </a:ext>
            </a:extLst>
          </p:cNvPr>
          <p:cNvSpPr>
            <a:spLocks xmlns:a="http://schemas.openxmlformats.org/drawingml/2006/main" noGrp="1"/>
          </p:cNvSpPr>
          <p:nvPr/>
        </p:nvSpPr>
        <p:spPr>
          <a:xfrm xmlns:a="http://schemas.openxmlformats.org/drawingml/2006/main">
            <a:off x="8172450" y="4210050"/>
            <a:ext cx="3409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52606D"/>
                </a:solidFill>
                <a:latin typeface="Segoe UI"/>
                <a:ea typeface="Segoe UI"/>
                <a:cs typeface="Segoe UI"/>
              </a:defRPr>
            </a:pPr>
            <a:r>
              <a:rPr sz="1350" b="1">
                <a:solidFill>
                  <a:srgbClr val="52606D"/>
                </a:solidFill>
                <a:latin typeface="Segoe UI"/>
                <a:ea typeface="Segoe UI"/>
                <a:cs typeface="Segoe UI"/>
              </a:rPr>
              <a:t>Next: test smaller models at load.</a:t>
            </a:r>
          </a:p>
        </p:txBody>
      </p:sp>
      <p:sp>
        <p:nvSpPr>
          <p:cNvPr id="32" name="">
            <a:extLst xmlns:a="http://schemas.openxmlformats.org/drawingml/2006/main">
              <a:ext uri="{FF2B5EF4-FFF2-40B4-BE49-F238E27FC236}">
                <a16:creationId xmlns:a16="http://schemas.microsoft.com/office/drawing/2014/main" id="{2B2943A8-B5DB-4D0D-8227-0161C807707C}"/>
              </a:ext>
            </a:extLst>
          </p:cNvPr>
          <p:cNvSpPr>
            <a:spLocks xmlns:a="http://schemas.openxmlformats.org/drawingml/2006/main" noGrp="1"/>
          </p:cNvSpPr>
          <p:nvPr/>
        </p:nvSpPr>
        <p:spPr>
          <a:xfrm xmlns:a="http://schemas.openxmlformats.org/drawingml/2006/main">
            <a:off x="6496050" y="4562475"/>
            <a:ext cx="5086350" cy="9525"/>
          </a:xfrm>
          <a:prstGeom xmlns:a="http://schemas.openxmlformats.org/drawingml/2006/main" prst="line">
            <a:avLst/>
          </a:prstGeom>
          <a:noFill xmlns:a="http://schemas.openxmlformats.org/drawingml/2006/main"/>
          <a:ln xmlns:a="http://schemas.openxmlformats.org/drawingml/2006/main" w="9525">
            <a:solidFill>
              <a:srgbClr val="D9E2EC"/>
            </a:solidFill>
            <a:prstDash val="solid"/>
          </a:ln>
        </p:spPr>
      </p:sp>
      <p:sp>
        <p:nvSpPr>
          <p:cNvPr id="33" name="">
            <a:extLst xmlns:a="http://schemas.openxmlformats.org/drawingml/2006/main">
              <a:ext uri="{FF2B5EF4-FFF2-40B4-BE49-F238E27FC236}">
                <a16:creationId xmlns:a16="http://schemas.microsoft.com/office/drawing/2014/main" id="{904A217F-A2E5-419E-87D8-B8722C94DFA3}"/>
              </a:ext>
            </a:extLst>
          </p:cNvPr>
          <p:cNvSpPr>
            <a:spLocks xmlns:a="http://schemas.openxmlformats.org/drawingml/2006/main" noGrp="1"/>
          </p:cNvSpPr>
          <p:nvPr/>
        </p:nvSpPr>
        <p:spPr>
          <a:xfrm xmlns:a="http://schemas.openxmlformats.org/drawingml/2006/main">
            <a:off x="6496050" y="4686300"/>
            <a:ext cx="1581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650" b="1">
                <a:solidFill>
                  <a:srgbClr val="0F766E"/>
                </a:solidFill>
                <a:latin typeface="Segoe UI"/>
                <a:ea typeface="Segoe UI"/>
                <a:cs typeface="Segoe UI"/>
              </a:defRPr>
            </a:pPr>
            <a:r>
              <a:rPr sz="1650" b="1">
                <a:solidFill>
                  <a:srgbClr val="0F766E"/>
                </a:solidFill>
                <a:latin typeface="Segoe UI"/>
                <a:ea typeface="Segoe UI"/>
                <a:cs typeface="Segoe UI"/>
              </a:rPr>
              <a:t>Privacy and abuse</a:t>
            </a:r>
          </a:p>
        </p:txBody>
      </p:sp>
      <p:sp>
        <p:nvSpPr>
          <p:cNvPr id="34" name="">
            <a:extLst xmlns:a="http://schemas.openxmlformats.org/drawingml/2006/main">
              <a:ext uri="{FF2B5EF4-FFF2-40B4-BE49-F238E27FC236}">
                <a16:creationId xmlns:a16="http://schemas.microsoft.com/office/drawing/2014/main" id="{628A1C59-4E1B-415A-95E0-99A31BE87273}"/>
              </a:ext>
            </a:extLst>
          </p:cNvPr>
          <p:cNvSpPr>
            <a:spLocks xmlns:a="http://schemas.openxmlformats.org/drawingml/2006/main" noGrp="1"/>
          </p:cNvSpPr>
          <p:nvPr/>
        </p:nvSpPr>
        <p:spPr>
          <a:xfrm xmlns:a="http://schemas.openxmlformats.org/drawingml/2006/main">
            <a:off x="8172450" y="4686300"/>
            <a:ext cx="340995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425" b="0">
                <a:solidFill>
                  <a:srgbClr val="102A43"/>
                </a:solidFill>
                <a:latin typeface="Segoe UI"/>
                <a:ea typeface="Segoe UI"/>
                <a:cs typeface="Segoe UI"/>
              </a:defRPr>
            </a:pPr>
            <a:r>
              <a:rPr sz="1425" b="0">
                <a:solidFill>
                  <a:srgbClr val="102A43"/>
                </a:solidFill>
                <a:latin typeface="Segoe UI"/>
                <a:ea typeface="Segoe UI"/>
                <a:cs typeface="Segoe UI"/>
              </a:rPr>
              <a:t>Synthetic data; Q&amp;A blocks pay or deny requests.</a:t>
            </a:r>
          </a:p>
        </p:txBody>
      </p:sp>
      <p:sp>
        <p:nvSpPr>
          <p:cNvPr id="35" name="">
            <a:extLst xmlns:a="http://schemas.openxmlformats.org/drawingml/2006/main">
              <a:ext uri="{FF2B5EF4-FFF2-40B4-BE49-F238E27FC236}">
                <a16:creationId xmlns:a16="http://schemas.microsoft.com/office/drawing/2014/main" id="{B176650B-A44B-40C2-9F10-6C09FDADEB4C}"/>
              </a:ext>
            </a:extLst>
          </p:cNvPr>
          <p:cNvSpPr>
            <a:spLocks xmlns:a="http://schemas.openxmlformats.org/drawingml/2006/main" noGrp="1"/>
          </p:cNvSpPr>
          <p:nvPr/>
        </p:nvSpPr>
        <p:spPr>
          <a:xfrm xmlns:a="http://schemas.openxmlformats.org/drawingml/2006/main">
            <a:off x="8172450" y="5086350"/>
            <a:ext cx="3409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350" b="1">
                <a:solidFill>
                  <a:srgbClr val="52606D"/>
                </a:solidFill>
                <a:latin typeface="Segoe UI"/>
                <a:ea typeface="Segoe UI"/>
                <a:cs typeface="Segoe UI"/>
              </a:defRPr>
            </a:pPr>
            <a:r>
              <a:rPr sz="1350" b="1">
                <a:solidFill>
                  <a:srgbClr val="52606D"/>
                </a:solidFill>
                <a:latin typeface="Segoe UI"/>
                <a:ea typeface="Segoe UI"/>
                <a:cs typeface="Segoe UI"/>
              </a:rPr>
              <a:t>Next: approved endpoint and access controls.</a:t>
            </a:r>
          </a:p>
        </p:txBody>
      </p:sp>
      <p:sp>
        <p:nvSpPr>
          <p:cNvPr id="36" name="">
            <a:extLst xmlns:a="http://schemas.openxmlformats.org/drawingml/2006/main">
              <a:ext uri="{FF2B5EF4-FFF2-40B4-BE49-F238E27FC236}">
                <a16:creationId xmlns:a16="http://schemas.microsoft.com/office/drawing/2014/main" id="{B41F02E3-69BD-42C6-BBBA-BB2A8FCB1316}"/>
              </a:ext>
            </a:extLst>
          </p:cNvPr>
          <p:cNvSpPr>
            <a:spLocks xmlns:a="http://schemas.openxmlformats.org/drawingml/2006/main" noGrp="1"/>
          </p:cNvSpPr>
          <p:nvPr/>
        </p:nvSpPr>
        <p:spPr>
          <a:xfrm xmlns:a="http://schemas.openxmlformats.org/drawingml/2006/main">
            <a:off x="609600" y="5791200"/>
            <a:ext cx="10972800" cy="533400"/>
          </a:xfrm>
          <a:prstGeom xmlns:a="http://schemas.openxmlformats.org/drawingml/2006/main" prst="rect">
            <a:avLst/>
          </a:prstGeom>
          <a:solidFill xmlns:a="http://schemas.openxmlformats.org/drawingml/2006/main">
            <a:srgbClr val="F5F8FA"/>
          </a:solidFill>
          <a:ln xmlns:a="http://schemas.openxmlformats.org/drawingml/2006/main" w="0">
            <a:noFill/>
            <a:prstDash val="solid"/>
          </a:ln>
        </p:spPr>
      </p:sp>
      <p:sp>
        <p:nvSpPr>
          <p:cNvPr id="37" name="">
            <a:extLst xmlns:a="http://schemas.openxmlformats.org/drawingml/2006/main">
              <a:ext uri="{FF2B5EF4-FFF2-40B4-BE49-F238E27FC236}">
                <a16:creationId xmlns:a16="http://schemas.microsoft.com/office/drawing/2014/main" id="{4770F249-C808-43D4-81AF-3C02A857DEF4}"/>
              </a:ext>
            </a:extLst>
          </p:cNvPr>
          <p:cNvSpPr>
            <a:spLocks xmlns:a="http://schemas.openxmlformats.org/drawingml/2006/main" noGrp="1"/>
          </p:cNvSpPr>
          <p:nvPr/>
        </p:nvSpPr>
        <p:spPr>
          <a:xfrm xmlns:a="http://schemas.openxmlformats.org/drawingml/2006/main">
            <a:off x="781050" y="5895975"/>
            <a:ext cx="16192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00" b="1">
                <a:solidFill>
                  <a:srgbClr val="0F766E"/>
                </a:solidFill>
                <a:latin typeface="Segoe UI"/>
                <a:ea typeface="Segoe UI"/>
                <a:cs typeface="Segoe UI"/>
              </a:defRPr>
            </a:pPr>
            <a:r>
              <a:rPr sz="1500" b="1">
                <a:solidFill>
                  <a:srgbClr val="0F766E"/>
                </a:solidFill>
                <a:latin typeface="Segoe UI"/>
                <a:ea typeface="Segoe UI"/>
                <a:cs typeface="Segoe UI"/>
              </a:rPr>
              <a:t>With more time</a:t>
            </a:r>
          </a:p>
        </p:txBody>
      </p:sp>
      <p:sp>
        <p:nvSpPr>
          <p:cNvPr id="38" name="">
            <a:extLst xmlns:a="http://schemas.openxmlformats.org/drawingml/2006/main">
              <a:ext uri="{FF2B5EF4-FFF2-40B4-BE49-F238E27FC236}">
                <a16:creationId xmlns:a16="http://schemas.microsoft.com/office/drawing/2014/main" id="{000A0943-BDA3-4CEA-A9DD-7939C6E1C1DE}"/>
              </a:ext>
            </a:extLst>
          </p:cNvPr>
          <p:cNvSpPr>
            <a:spLocks xmlns:a="http://schemas.openxmlformats.org/drawingml/2006/main" noGrp="1"/>
          </p:cNvSpPr>
          <p:nvPr/>
        </p:nvSpPr>
        <p:spPr>
          <a:xfrm xmlns:a="http://schemas.openxmlformats.org/drawingml/2006/main">
            <a:off x="2400300" y="5895975"/>
            <a:ext cx="8953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Autofit/>
          </a:bodyPr>
          <a:lstStyle xmlns:a="http://schemas.openxmlformats.org/drawingml/2006/main"/>
          <a:p xmlns:a="http://schemas.openxmlformats.org/drawingml/2006/main">
            <a:pPr algn="l">
              <a:lnSpc>
                <a:spcPct val="105000"/>
              </a:lnSpc>
              <a:buNone/>
              <a:defRPr sz="1500" b="0">
                <a:solidFill>
                  <a:srgbClr val="102A43"/>
                </a:solidFill>
                <a:latin typeface="Segoe UI"/>
                <a:ea typeface="Segoe UI"/>
                <a:cs typeface="Segoe UI"/>
              </a:defRPr>
            </a:pPr>
            <a:r>
              <a:rPr sz="1500" b="0">
                <a:solidFill>
                  <a:srgbClr val="102A43"/>
                </a:solidFill>
                <a:latin typeface="Segoe UI"/>
                <a:ea typeface="Segoe UI"/>
                <a:cs typeface="Segoe UI"/>
              </a:rPr>
              <a:t>Run in shadow mode; measure time to decision and audited misses; freeze calibration; monitor drift.</a:t>
            </a:r>
          </a:p>
        </p:txBody>
      </p:sp>
    </p:spTree>
    <p:extLst>
      <p:ext uri="{BB962C8B-B14F-4D97-AF65-F5344CB8AC3E}">
        <p14:creationId xmlns:p14="http://schemas.microsoft.com/office/powerpoint/2010/main" val="208607691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2026-09-20T11:46:58.5910000Z</dcterms:created>
  <dcterms:modified xsi:type="dcterms:W3CDTF">2026-09-20T11:46:58.5910000Z</dcterms:modified>
</coreProperties>
</file>