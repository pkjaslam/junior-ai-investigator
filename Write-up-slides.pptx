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e87c0b19d4f2d" /><Relationship Type="http://schemas.openxmlformats.org/officeDocument/2006/relationships/extended-properties" Target="/docProps/app.xml" Id="R58f47e86033a4100" /><Relationship Type="http://schemas.openxmlformats.org/officeDocument/2006/relationships/officeDocument" Target="/ppt/presentation.xml" Id="R7f2197c8e1ee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f1b83e375438b"/>
  </p:sldMasterIdLst>
  <p:notesMasterIdLst>
    <p:notesMasterId xmlns:r="http://schemas.openxmlformats.org/officeDocument/2006/relationships" r:id="R264146d9b2c24755"/>
  </p:notesMasterIdLst>
  <p:sldIdLst>
    <p:sldId xmlns:r="http://schemas.openxmlformats.org/officeDocument/2006/relationships" id="256" r:id="R52cb7d13ad344194"/>
    <p:sldId xmlns:r="http://schemas.openxmlformats.org/officeDocument/2006/relationships" id="257" r:id="R9877f64e874e4f6a"/>
    <p:sldId xmlns:r="http://schemas.openxmlformats.org/officeDocument/2006/relationships" id="258" r:id="R90856032c3b741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2433439cea47e4" /><Relationship Type="http://schemas.openxmlformats.org/officeDocument/2006/relationships/slideMaster" Target="/ppt/slideMasters/slideMaster1.xml" Id="R984f1b83e375438b" /><Relationship Type="http://schemas.openxmlformats.org/officeDocument/2006/relationships/notesMaster" Target="/ppt/notesMasters/notesMaster1.xml" Id="R264146d9b2c24755" /><Relationship Type="http://schemas.openxmlformats.org/officeDocument/2006/relationships/presProps" Target="/ppt/presProps.xml" Id="Rfe71f32e92c04072" /><Relationship Type="http://schemas.openxmlformats.org/officeDocument/2006/relationships/viewProps" Target="/ppt/viewProps.xml" Id="R128470811e354f42" /><Relationship Type="http://schemas.openxmlformats.org/officeDocument/2006/relationships/tableStyles" Target="/ppt/tableStyles.xml" Id="R0d87b36a5e394f27" /><Relationship Type="http://schemas.openxmlformats.org/officeDocument/2006/relationships/slide" Target="/ppt/slides/slide1.xml" Id="R52cb7d13ad344194" /><Relationship Type="http://schemas.openxmlformats.org/officeDocument/2006/relationships/slide" Target="/ppt/slides/slide2.xml" Id="R9877f64e874e4f6a" /><Relationship Type="http://schemas.openxmlformats.org/officeDocument/2006/relationships/slide" Target="/ppt/slides/slide3.xml" Id="R90856032c3b7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5d023f74f347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b34e72a1da4469" /><Relationship Type="http://schemas.openxmlformats.org/officeDocument/2006/relationships/notesMaster" Target="/ppt/notesMasters/notesMaster1.xml" Id="R2e0b6587357d43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c3666113be4a57" /><Relationship Type="http://schemas.openxmlformats.org/officeDocument/2006/relationships/notesMaster" Target="/ppt/notesMasters/notesMaster1.xml" Id="R7c2caf15ca8e4e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d9b8810e1f464b" /><Relationship Type="http://schemas.openxmlformats.org/officeDocument/2006/relationships/notesMaster" Target="/ppt/notesMasters/notesMaster1.xml" Id="Rb7ff7017f2f4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analysis.ipynb and triage.py in this repository. Statistics describe the 50 supplied synthetic referrals.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evaluate_briefs.py, checks.py, ai.py, and test_triage.py in this repository.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audit tolerance is a prototype policy choice. Production thresholds require compliance and operations approval.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11043db2240c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6d8aafed3847e3" /><Relationship Type="http://schemas.openxmlformats.org/officeDocument/2006/relationships/slideLayout" Target="/ppt/slideLayouts/slideLayout1.xml" Id="R9cfbe43eb0b546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be43eb0b5467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8f54febe7477c" /><Relationship Type="http://schemas.openxmlformats.org/officeDocument/2006/relationships/notesSlide" Target="/ppt/notesSlides/notesSlide1.xml" Id="Redf59b9d8ea8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fedf541b04107" /><Relationship Type="http://schemas.openxmlformats.org/officeDocument/2006/relationships/notesSlide" Target="/ppt/notesSlides/notesSlide2.xml" Id="Rc8e0c7d7b25749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59ff076e746c3" /><Relationship Type="http://schemas.openxmlformats.org/officeDocument/2006/relationships/notesSlide" Target="/ppt/notesSlides/notesSlide3.xml" Id="R6e9e1f46638a43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1877FE-24EA-4E3A-841A-D6C4DA14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Junior AI Investigator</a:t>
            </a:r>
            <a:endParaRPr sz="2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1CFF3C-8986-4494-8C07-16981722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3000"/>
              </a:lnSpc>
              <a:buNone/>
            </a:pPr>
            <a:r>
              <a:rPr sz="11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 case-review workbench for long-term-care referrals. It orders the queue, shows the evidence, and keeps the investigator in control.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E9CA64-EA39-49BA-81EB-5BD068D7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5532120" cy="4937760"/>
          </a:xfrm>
          <a:prstGeom xmlns:a="http://schemas.openxmlformats.org/drawingml/2006/main" prst="roundRect">
            <a:avLst>
              <a:gd name="adj" fmla="val 129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7166738-4B02-4BBF-B5B9-315AFD0D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513832" cy="4937760"/>
          </a:xfrm>
          <a:prstGeom xmlns:a="http://schemas.openxmlformats.org/drawingml/2006/main" prst="roundRect">
            <a:avLst>
              <a:gd name="adj" fmla="val 129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B91462-BD37-42C4-8982-EDECAD7F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THE PRODUCT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2A3D0A3-5C84-4B64-8B71-9FFA831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12848"/>
            <a:ext cx="5074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User: a fraud investigator starting a morning queue.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Job: decide which referrals need a full investigation, one focused check, or possible false-positive closure.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Built: a 50-case queue with three triage lanes, case briefs, evidence, next steps, questions, and a decision log.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Not built: authentication, a database, multi-user workflow, or claims-system integration. The CSV is the input.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No case receives a fraud probability because the file has no outcome labels.</a:t>
            </a:r>
            <a:endParaRPr sz="112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1F9B0E-4CC9-4DB7-B371-127842BE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8308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WHAT THE DATA SHOWS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A4D1D5-27EA-4F9C-87DB-46435204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12848"/>
            <a:ext cx="507492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Across the queue, pairwise Spearman correlations range from 0.62 to 0.89.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The first principal component explains 74.5% of variance; the equal-weight index correlates 0.999 with it.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Equal weights are used because there are no outcomes for supervised weighting. Cases can still move when weights change, so sensitivity is reported.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Two large gaps form groups of 30, 12, and 8. Safety rules produce final lanes of 29, 13, and 8.</a:t>
            </a:r>
            <a:endParaRPr sz="11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2EE9B3-AB2A-4248-A9FA-81FC960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2356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Spearman 0.62-0.89   |   PC1 74.5%   |   index-PC1 0.999   |   final lanes 29 / 13 / 8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4153ED2-C96B-415B-BE29-D408184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80760"/>
            <a:ext cx="1463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362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3DEAA10-F5A5-4B9C-B996-512DA574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6044184"/>
            <a:ext cx="1005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Priority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D9EB771-CBF7-4FD1-B861-B82EEB2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062472"/>
            <a:ext cx="182880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67C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0AD596-138B-4AAB-A9EB-48850AE1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6044184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Judgment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2FF6A00-EB37-463A-8673-F9538D96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08076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FC9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99E5026-D757-4A6B-A179-D4AB218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604418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Likely false positive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37415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ED4E5D-7919-452A-A342-3144008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System design and human control</a:t>
            </a:r>
            <a:endParaRPr sz="23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B2C5B8-2875-4ABB-904A-E9503D53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532120" cy="5303520"/>
          </a:xfrm>
          <a:prstGeom xmlns:a="http://schemas.openxmlformats.org/drawingml/2006/main" prst="roundRect">
            <a:avLst>
              <a:gd name="adj" fmla="val 120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D1C4DA-CC1D-4795-B218-B2661965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34440"/>
            <a:ext cx="5513832" cy="5303520"/>
          </a:xfrm>
          <a:prstGeom xmlns:a="http://schemas.openxmlformats.org/drawingml/2006/main" prst="roundRect">
            <a:avLst>
              <a:gd name="adj" fmla="val 120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EADD0C-B9A3-4394-B356-FFBFB3C4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5212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SYSTEM DESIGN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6034E9-ADB8-4CA7-A40E-0FDBCE15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47088"/>
            <a:ext cx="507492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triage.py sets the lane, evidence, numbers, and first check. These steps are deterministic.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Before the shift, the model drafts the headline, summary, ordinary explanation, and missing records for all 50 cases: 44 passed first time and 6 after repair.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A frozen 19-case regression comparison found that model-selected evidence missed a required signal in 11 cases. Engine-selected evidence covers all triggered flags and care-setting clashes.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Drafts are checked against the case facts. A failed draft gets one repair attempt, then the rule brief is used.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Cached briefs are tied to the fact sheet and checked again when loaded. No API key is needed for the demo.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At scale, reference values should come from a fixed calibration window by care type and run inside an approved environment.</a:t>
            </a:r>
            <a:endParaRPr sz="11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70B94EA-C326-4834-B8DD-F892E35F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HUMAN CONTROL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1B7850-4A4E-49E9-849A-42D6FFD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088"/>
            <a:ext cx="507492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The investigator records agree, disagree, or not sure for each finding.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A recommendation never takes action. An override requires a written reason.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Questions about paying or denying a claim are refused before they reach the model.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Profile-group retention is shown as sensitivity: 46 of 50 cases retain their group in at least 90% of every stress test. It is not a correctness probability.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The audit gate reads 2 targeted and 14 random cases. If review would detect a sampled problem, 14 clean random reads give a 90% upper bound of 2 hidden problems in the 27-case lot. Any adverse decision blocks bulk closing.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Every decision logs the model, prompt version, displayed text, and fact fingerprint.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521809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D3E2B3-45B3-4AD9-956A-05D49A96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Limits, risks and next tests</a:t>
            </a:r>
            <a:endParaRPr sz="23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626FDF-6B69-4E6D-88C8-014BDD0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532120" cy="5303520"/>
          </a:xfrm>
          <a:prstGeom xmlns:a="http://schemas.openxmlformats.org/drawingml/2006/main" prst="roundRect">
            <a:avLst>
              <a:gd name="adj" fmla="val 120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EE0ADB-0B9D-4719-A52F-ABBF7B0A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34440"/>
            <a:ext cx="5513832" cy="5303520"/>
          </a:xfrm>
          <a:prstGeom xmlns:a="http://schemas.openxmlformats.org/drawingml/2006/main" prst="roundRect">
            <a:avLst>
              <a:gd name="adj" fmla="val 120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7CF4D5-D79F-4FE4-9EF1-4ADBD76E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5212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LIMITS AND CONTROLS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22318E-4641-4A36-8E8A-0378D131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47088"/>
            <a:ext cx="507492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No outcomes means no measured accuracy and no fraud probability.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All percentiles, groups, and ranges describe this referred queue of 50 cases.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Generated text can sound too certain. Deterministic evidence, text checks, and the rule fallback limit that risk.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The 10% audit tolerance and 90% confidence level are prototype policy choices. Operations and compliance should set them in production.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Claim data requires an approved model endpoint. Human review and the decision log reduce automation bias.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The prototype leaves out authentication, a production datastore, and claims-system integration.</a:t>
            </a:r>
            <a:endParaRPr sz="11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2A4BEF-A7C4-45EF-95BD-8C44B3A1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NEXT TESTS AND ASSUMPTIONS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FC9769-DE49-4EBA-9AD4-02544A56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088"/>
            <a:ext cx="507492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The assignment mentions nine signals; the CSV contains ten. All ten are used.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Zero means normal only for the four flags. Continuous measures use a descriptive benign-profile range and are treated as one-sided.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Claim amount is exposure. It orders work within a lane but does not enter the index.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Run beside current practice and measure time to decision plus audited misses.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Compare model and rule briefs in a blinded investigator review of clarity and actionability.</a:t>
            </a:r>
            <a:endParaRPr sz="1120"/>
          </a:p>
          <a:p xmlns:a="http://schemas.openxmlformats.org/drawingml/2006/main">
            <a:pPr marL="165100" indent="-1651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sz="1120">
                <a:solidFill>
                  <a:srgbClr val="39424E"/>
                </a:solidFill>
                <a:latin typeface="Calibri"/>
                <a:ea typeface="Calibri"/>
                <a:cs typeface="Calibri"/>
              </a:rPr>
              <a:t>For production, freeze and version calibration values by care type, then monitor drift.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18771770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2026-09-20T10:55:27.2450000Z</dcterms:created>
  <dcterms:modified xsi:type="dcterms:W3CDTF">2026-09-20T10:55:27.2450000Z</dcterms:modified>
</coreProperties>
</file>